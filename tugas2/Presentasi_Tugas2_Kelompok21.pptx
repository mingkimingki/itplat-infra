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eaeae7c0-0309-000f-684b-bce8bc0284c8}">
          <p14:sldIdLst>
            <p14:sldId id="256"/>
          </p14:sldIdLst>
        </p14:section>
        <p14:section name="Eksperimen" id="{043632c6-0f71-1ce4-406e-0cd4937b731a}">
          <p14:sldIdLst>
            <p14:sldId id="257"/>
            <p14:sldId id="258"/>
            <p14:sldId id="259"/>
          </p14:sldIdLst>
        </p14:section>
        <p14:section name="Hasil" id="{ed45ac95-ddcd-ce56-cb1f-a81aaee08619}">
          <p14:sldIdLst>
            <p14:sldId id="260"/>
            <p14:sldId id="261"/>
          </p14:sldIdLst>
        </p14:section>
        <p14:section name="Analisis" id="{145e68fc-29df-87a1-3ddd-b4d5d2599676}">
          <p14:sldIdLst>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233"/>
                </a:solidFill>
                <a:latin typeface="+mn-lt"/>
              </a:defRPr>
            </a:pPr>
            <a:r>
              <a:rPr sz="1300" b="0" i="0" u="none" strike="noStrike">
                <a:solidFill>
                  <a:srgbClr val="2B2233"/>
                </a:solidFill>
                <a:latin typeface="+mn-lt"/>
              </a:rPr>
              <a:t>Waktu eksekusi (detik, rata-rata 3×)</a:t>
            </a:r>
          </a:p>
        </c:rich>
      </c:tx>
      <c:layout/>
      <c:overlay val="0"/>
    </c:title>
    <c:autoTitleDeleted val="0"/>
    <c:plotArea>
      <c:layout/>
      <c:barChart>
        <c:barDir val="col"/>
        <c:grouping val="clustered"/>
        <c:varyColors val="0"/>
        <c:ser>
          <c:idx val="0"/>
          <c:order val="0"/>
          <c:tx>
            <c:strRef>
              <c:f>Sheet1!$B$1</c:f>
              <c:strCache>
                <c:ptCount val="1"/>
                <c:pt idx="0">
                  <c:v>MapReduce</c:v>
                </c:pt>
              </c:strCache>
            </c:strRef>
          </c:tx>
          <c:spPr>
            <a:solidFill>
              <a:srgbClr val="9C95A3"/>
            </a:solidFill>
            <a:effectLst/>
          </c:spPr>
          <c:invertIfNegative val="0"/>
          <c:dLbls>
            <c:numFmt formatCode="0" sourceLinked="0"/>
            <c:txPr>
              <a:bodyPr/>
              <a:lstStyle/>
              <a:p>
                <a:pPr>
                  <a:defRPr b="0" i="0" strike="noStrike" sz="1000" u="none">
                    <a:solidFill>
                      <a:srgbClr val="2B2233"/>
                    </a:solidFill>
                    <a:latin typeface="+mn-lt"/>
                  </a:defRPr>
                </a:pPr>
              </a:p>
            </c:txPr>
            <c:showLegendKey val="0"/>
            <c:showVal val="1"/>
            <c:showCatName val="0"/>
            <c:showSerName val="0"/>
            <c:showPercent val="0"/>
            <c:showBubbleSize val="0"/>
            <c:showLeaderLines val="0"/>
          </c:dLbls>
          <c:cat>
            <c:multiLvlStrRef>
              <c:f>Sheet1!$A$2:$A$4</c:f>
              <c:multiLvlStrCache>
                <c:ptCount val="3"/>
                <c:lvl>
                  <c:pt idx="0">
                    <c:v>host</c:v>
                  </c:pt>
                  <c:pt idx="1">
                    <c:v>status</c:v>
                  </c:pt>
                  <c:pt idx="2">
                    <c:v>hour</c:v>
                  </c:pt>
                </c:lvl>
              </c:multiLvlStrCache>
            </c:multiLvlStrRef>
          </c:cat>
          <c:val>
            <c:numRef>
              <c:f>Sheet1!$B$2:$B$4</c:f>
              <c:numCache>
                <c:formatCode>General</c:formatCode>
                <c:ptCount val="3"/>
                <c:pt idx="0">
                  <c:v>65.2</c:v>
                </c:pt>
                <c:pt idx="1">
                  <c:v>66.2</c:v>
                </c:pt>
                <c:pt idx="2">
                  <c:v>69.6</c:v>
                </c:pt>
              </c:numCache>
            </c:numRef>
          </c:val>
        </c:ser>
        <c:ser>
          <c:idx val="1"/>
          <c:order val="1"/>
          <c:tx>
            <c:strRef>
              <c:f>Sheet1!$C$1</c:f>
              <c:strCache>
                <c:ptCount val="1"/>
                <c:pt idx="0">
                  <c:v>MapReduce + combiner</c:v>
                </c:pt>
              </c:strCache>
            </c:strRef>
          </c:tx>
          <c:spPr>
            <a:solidFill>
              <a:srgbClr val="C9C4CE"/>
            </a:solidFill>
            <a:effectLst/>
          </c:spPr>
          <c:invertIfNegative val="0"/>
          <c:dLbls>
            <c:numFmt formatCode="0" sourceLinked="0"/>
            <c:txPr>
              <a:bodyPr/>
              <a:lstStyle/>
              <a:p>
                <a:pPr>
                  <a:defRPr b="0" i="0" strike="noStrike" sz="1000" u="none">
                    <a:solidFill>
                      <a:srgbClr val="2B2233"/>
                    </a:solidFill>
                    <a:latin typeface="+mn-lt"/>
                  </a:defRPr>
                </a:pPr>
              </a:p>
            </c:txPr>
            <c:showLegendKey val="0"/>
            <c:showVal val="1"/>
            <c:showCatName val="0"/>
            <c:showSerName val="0"/>
            <c:showPercent val="0"/>
            <c:showBubbleSize val="0"/>
            <c:showLeaderLines val="0"/>
          </c:dLbls>
          <c:cat>
            <c:multiLvlStrRef>
              <c:f>Sheet1!$A$2:$A$4</c:f>
              <c:multiLvlStrCache>
                <c:ptCount val="3"/>
                <c:lvl>
                  <c:pt idx="0">
                    <c:v>host</c:v>
                  </c:pt>
                  <c:pt idx="1">
                    <c:v>status</c:v>
                  </c:pt>
                  <c:pt idx="2">
                    <c:v>hour</c:v>
                  </c:pt>
                </c:lvl>
              </c:multiLvlStrCache>
            </c:multiLvlStrRef>
          </c:cat>
          <c:val>
            <c:numRef>
              <c:f>Sheet1!$C$2:$C$4</c:f>
              <c:numCache>
                <c:formatCode>General</c:formatCode>
                <c:ptCount val="3"/>
                <c:pt idx="0">
                  <c:v>68.2</c:v>
                </c:pt>
                <c:pt idx="1">
                  <c:v>68.8</c:v>
                </c:pt>
                <c:pt idx="2">
                  <c:v>69.9</c:v>
                </c:pt>
              </c:numCache>
            </c:numRef>
          </c:val>
        </c:ser>
        <c:ser>
          <c:idx val="2"/>
          <c:order val="2"/>
          <c:tx>
            <c:strRef>
              <c:f>Sheet1!$D$1</c:f>
              <c:strCache>
                <c:ptCount val="1"/>
                <c:pt idx="0">
                  <c:v>Spark RDD</c:v>
                </c:pt>
              </c:strCache>
            </c:strRef>
          </c:tx>
          <c:spPr>
            <a:solidFill>
              <a:srgbClr val="F7931E"/>
            </a:solidFill>
            <a:effectLst/>
          </c:spPr>
          <c:invertIfNegative val="0"/>
          <c:dLbls>
            <c:numFmt formatCode="0" sourceLinked="0"/>
            <c:txPr>
              <a:bodyPr/>
              <a:lstStyle/>
              <a:p>
                <a:pPr>
                  <a:defRPr b="0" i="0" strike="noStrike" sz="1000" u="none">
                    <a:solidFill>
                      <a:srgbClr val="2B2233"/>
                    </a:solidFill>
                    <a:latin typeface="+mn-lt"/>
                  </a:defRPr>
                </a:pPr>
              </a:p>
            </c:txPr>
            <c:showLegendKey val="0"/>
            <c:showVal val="1"/>
            <c:showCatName val="0"/>
            <c:showSerName val="0"/>
            <c:showPercent val="0"/>
            <c:showBubbleSize val="0"/>
            <c:showLeaderLines val="0"/>
          </c:dLbls>
          <c:cat>
            <c:multiLvlStrRef>
              <c:f>Sheet1!$A$2:$A$4</c:f>
              <c:multiLvlStrCache>
                <c:ptCount val="3"/>
                <c:lvl>
                  <c:pt idx="0">
                    <c:v>host</c:v>
                  </c:pt>
                  <c:pt idx="1">
                    <c:v>status</c:v>
                  </c:pt>
                  <c:pt idx="2">
                    <c:v>hour</c:v>
                  </c:pt>
                </c:lvl>
              </c:multiLvlStrCache>
            </c:multiLvlStrRef>
          </c:cat>
          <c:val>
            <c:numRef>
              <c:f>Sheet1!$D$2:$D$4</c:f>
              <c:numCache>
                <c:formatCode>General</c:formatCode>
                <c:ptCount val="3"/>
                <c:pt idx="0">
                  <c:v>20.6</c:v>
                </c:pt>
                <c:pt idx="1">
                  <c:v>19.2</c:v>
                </c:pt>
                <c:pt idx="2">
                  <c:v>19.8</c:v>
                </c:pt>
              </c:numCache>
            </c:numRef>
          </c:val>
        </c:ser>
        <c:ser>
          <c:idx val="3"/>
          <c:order val="3"/>
          <c:tx>
            <c:strRef>
              <c:f>Sheet1!$E$1</c:f>
              <c:strCache>
                <c:ptCount val="1"/>
                <c:pt idx="0">
                  <c:v>Spark DataFrame</c:v>
                </c:pt>
              </c:strCache>
            </c:strRef>
          </c:tx>
          <c:spPr>
            <a:solidFill>
              <a:srgbClr val="6B1D78"/>
            </a:solidFill>
            <a:effectLst/>
          </c:spPr>
          <c:invertIfNegative val="0"/>
          <c:dLbls>
            <c:numFmt formatCode="0" sourceLinked="0"/>
            <c:txPr>
              <a:bodyPr/>
              <a:lstStyle/>
              <a:p>
                <a:pPr>
                  <a:defRPr b="0" i="0" strike="noStrike" sz="1000" u="none">
                    <a:solidFill>
                      <a:srgbClr val="2B2233"/>
                    </a:solidFill>
                    <a:latin typeface="+mn-lt"/>
                  </a:defRPr>
                </a:pPr>
              </a:p>
            </c:txPr>
            <c:showLegendKey val="0"/>
            <c:showVal val="1"/>
            <c:showCatName val="0"/>
            <c:showSerName val="0"/>
            <c:showPercent val="0"/>
            <c:showBubbleSize val="0"/>
            <c:showLeaderLines val="0"/>
          </c:dLbls>
          <c:cat>
            <c:multiLvlStrRef>
              <c:f>Sheet1!$A$2:$A$4</c:f>
              <c:multiLvlStrCache>
                <c:ptCount val="3"/>
                <c:lvl>
                  <c:pt idx="0">
                    <c:v>host</c:v>
                  </c:pt>
                  <c:pt idx="1">
                    <c:v>status</c:v>
                  </c:pt>
                  <c:pt idx="2">
                    <c:v>hour</c:v>
                  </c:pt>
                </c:lvl>
              </c:multiLvlStrCache>
            </c:multiLvlStrRef>
          </c:cat>
          <c:val>
            <c:numRef>
              <c:f>Sheet1!$E$2:$E$4</c:f>
              <c:numCache>
                <c:formatCode>General</c:formatCode>
                <c:ptCount val="3"/>
                <c:pt idx="0">
                  <c:v>17.9</c:v>
                </c:pt>
                <c:pt idx="1">
                  <c:v>16</c:v>
                </c:pt>
                <c:pt idx="2">
                  <c:v>31.2</c:v>
                </c:pt>
              </c:numCache>
            </c:numRef>
          </c:val>
        </c:ser>
        <c:dLbls>
          <c:numFmt formatCode="0" sourceLinked="0"/>
          <c:txPr>
            <a:bodyPr/>
            <a:lstStyle/>
            <a:p>
              <a:pPr>
                <a:defRPr b="0" i="0" strike="noStrike" sz="1000" u="none">
                  <a:solidFill>
                    <a:srgbClr val="2B22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2233"/>
                </a:solidFill>
                <a:latin typeface="+mn-lt"/>
              </a:defRPr>
            </a:pPr>
            <a:endParaRPr lang="en-US"/>
          </a:p>
        </c:txPr>
        <c:crossAx val="2094734552"/>
        <c:crosses val="autoZero"/>
        <c:auto val="1"/>
        <c:lblAlgn val="ctr"/>
        <c:noMultiLvlLbl val="1"/>
      </c:catAx>
      <c:valAx>
        <c:axId val="2094734552"/>
        <c:scaling>
          <c:orientation val="minMax"/>
          <c:max val="80"/>
        </c:scaling>
        <c:delete val="0"/>
        <c:axPos val="l"/>
        <c:majorGridlines>
          <c:spPr>
            <a:ln w="9525" cap="flat">
              <a:solidFill>
                <a:srgbClr val="E6E2E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47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B22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233"/>
                </a:solidFill>
                <a:latin typeface="+mn-lt"/>
              </a:defRPr>
            </a:pPr>
            <a:r>
              <a:rPr sz="1300" b="0" i="0" u="none" strike="noStrike">
                <a:solidFill>
                  <a:srgbClr val="2B2233"/>
                </a:solidFill>
                <a:latin typeface="+mn-lt"/>
              </a:rPr>
              <a:t>Tiga pertanyaan sekaligus (detik)</a:t>
            </a:r>
          </a:p>
        </c:rich>
      </c:tx>
      <c:layout/>
      <c:overlay val="0"/>
    </c:title>
    <c:autoTitleDeleted val="0"/>
    <c:plotArea>
      <c:layout/>
      <c:barChart>
        <c:barDir val="bar"/>
        <c:grouping val="stacked"/>
        <c:varyColors val="0"/>
        <c:ser>
          <c:idx val="0"/>
          <c:order val="0"/>
          <c:tx>
            <c:strRef>
              <c:f>Sheet1!$B$1</c:f>
              <c:strCache>
                <c:ptCount val="1"/>
                <c:pt idx="0">
                  <c:v>MapReduce</c:v>
                </c:pt>
              </c:strCache>
            </c:strRef>
          </c:tx>
          <c:spPr>
            <a:solidFill>
              <a:srgbClr val="9C95A3"/>
            </a:solidFill>
            <a:effectLst/>
          </c:spPr>
          <c:invertIfNegative val="0"/>
          <c:dLbls>
            <c:numFmt formatCode="0.0;;;" sourceLinked="0"/>
            <c:txPr>
              <a:bodyPr/>
              <a:lstStyle/>
              <a:p>
                <a:pPr>
                  <a:defRPr b="0" i="0" strike="noStrike" sz="11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Sheet1!$A$2:$A$7</c:f>
              <c:multiLvlStrCache>
                <c:ptCount val="6"/>
                <c:lvl>
                  <c:pt idx="0">
                    <c:v>MapReduce (3 job)</c:v>
                  </c:pt>
                  <c:pt idx="1">
                    <c:v>MapReduce + combiner</c:v>
                  </c:pt>
                  <c:pt idx="2">
                    <c:v>Spark RDD tanpa cache</c:v>
                  </c:pt>
                  <c:pt idx="3">
                    <c:v>Spark RDD + cache</c:v>
                  </c:pt>
                  <c:pt idx="4">
                    <c:v>Spark DataFrame tanpa cache</c:v>
                  </c:pt>
                  <c:pt idx="5">
                    <c:v>Spark DataFrame + cache</c:v>
                  </c:pt>
                </c:lvl>
              </c:multiLvlStrCache>
            </c:multiLvlStrRef>
          </c:cat>
          <c:val>
            <c:numRef>
              <c:f>Sheet1!$B$2:$B$7</c:f>
              <c:numCache>
                <c:formatCode>General</c:formatCode>
                <c:ptCount val="6"/>
                <c:pt idx="0">
                  <c:v>203.7</c:v>
                </c:pt>
                <c:pt idx="1">
                  <c:v>202.1</c:v>
                </c:pt>
                <c:pt idx="2">
                  <c:v>0</c:v>
                </c:pt>
                <c:pt idx="3">
                  <c:v>0</c:v>
                </c:pt>
                <c:pt idx="4">
                  <c:v>0</c:v>
                </c:pt>
                <c:pt idx="5">
                  <c:v>0</c:v>
                </c:pt>
              </c:numCache>
            </c:numRef>
          </c:val>
        </c:ser>
        <c:ser>
          <c:idx val="1"/>
          <c:order val="1"/>
          <c:tx>
            <c:strRef>
              <c:f>Sheet1!$C$1</c:f>
              <c:strCache>
                <c:ptCount val="1"/>
                <c:pt idx="0">
                  <c:v>Spark</c:v>
                </c:pt>
              </c:strCache>
            </c:strRef>
          </c:tx>
          <c:spPr>
            <a:solidFill>
              <a:srgbClr val="6B1D78"/>
            </a:solidFill>
            <a:effectLst/>
          </c:spPr>
          <c:invertIfNegative val="0"/>
          <c:dLbls>
            <c:numFmt formatCode="0.0;;;" sourceLinked="0"/>
            <c:txPr>
              <a:bodyPr/>
              <a:lstStyle/>
              <a:p>
                <a:pPr>
                  <a:defRPr b="0" i="0" strike="noStrike" sz="11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Sheet1!$A$2:$A$7</c:f>
              <c:multiLvlStrCache>
                <c:ptCount val="6"/>
                <c:lvl>
                  <c:pt idx="0">
                    <c:v>MapReduce (3 job)</c:v>
                  </c:pt>
                  <c:pt idx="1">
                    <c:v>MapReduce + combiner</c:v>
                  </c:pt>
                  <c:pt idx="2">
                    <c:v>Spark RDD tanpa cache</c:v>
                  </c:pt>
                  <c:pt idx="3">
                    <c:v>Spark RDD + cache</c:v>
                  </c:pt>
                  <c:pt idx="4">
                    <c:v>Spark DataFrame tanpa cache</c:v>
                  </c:pt>
                  <c:pt idx="5">
                    <c:v>Spark DataFrame + cache</c:v>
                  </c:pt>
                </c:lvl>
              </c:multiLvlStrCache>
            </c:multiLvlStrRef>
          </c:cat>
          <c:val>
            <c:numRef>
              <c:f>Sheet1!$C$2:$C$7</c:f>
              <c:numCache>
                <c:formatCode>General</c:formatCode>
                <c:ptCount val="6"/>
                <c:pt idx="0">
                  <c:v>0</c:v>
                </c:pt>
                <c:pt idx="1">
                  <c:v>0</c:v>
                </c:pt>
                <c:pt idx="2">
                  <c:v>58.2</c:v>
                </c:pt>
                <c:pt idx="3">
                  <c:v>0</c:v>
                </c:pt>
                <c:pt idx="4">
                  <c:v>66</c:v>
                </c:pt>
                <c:pt idx="5">
                  <c:v>57.7</c:v>
                </c:pt>
              </c:numCache>
            </c:numRef>
          </c:val>
        </c:ser>
        <c:ser>
          <c:idx val="2"/>
          <c:order val="2"/>
          <c:tx>
            <c:strRef>
              <c:f>Sheet1!$D$1</c:f>
              <c:strCache>
                <c:ptCount val="1"/>
                <c:pt idx="0">
                  <c:v>Spark RDD + cache</c:v>
                </c:pt>
              </c:strCache>
            </c:strRef>
          </c:tx>
          <c:spPr>
            <a:solidFill>
              <a:srgbClr val="F7931E"/>
            </a:solidFill>
            <a:effectLst/>
          </c:spPr>
          <c:invertIfNegative val="0"/>
          <c:dLbls>
            <c:numFmt formatCode="0.0;;;" sourceLinked="0"/>
            <c:txPr>
              <a:bodyPr/>
              <a:lstStyle/>
              <a:p>
                <a:pPr>
                  <a:defRPr b="0" i="0" strike="noStrike" sz="11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Sheet1!$A$2:$A$7</c:f>
              <c:multiLvlStrCache>
                <c:ptCount val="6"/>
                <c:lvl>
                  <c:pt idx="0">
                    <c:v>MapReduce (3 job)</c:v>
                  </c:pt>
                  <c:pt idx="1">
                    <c:v>MapReduce + combiner</c:v>
                  </c:pt>
                  <c:pt idx="2">
                    <c:v>Spark RDD tanpa cache</c:v>
                  </c:pt>
                  <c:pt idx="3">
                    <c:v>Spark RDD + cache</c:v>
                  </c:pt>
                  <c:pt idx="4">
                    <c:v>Spark DataFrame tanpa cache</c:v>
                  </c:pt>
                  <c:pt idx="5">
                    <c:v>Spark DataFrame + cache</c:v>
                  </c:pt>
                </c:lvl>
              </c:multiLvlStrCache>
            </c:multiLvlStrRef>
          </c:cat>
          <c:val>
            <c:numRef>
              <c:f>Sheet1!$D$2:$D$7</c:f>
              <c:numCache>
                <c:formatCode>General</c:formatCode>
                <c:ptCount val="6"/>
                <c:pt idx="0">
                  <c:v>0</c:v>
                </c:pt>
                <c:pt idx="1">
                  <c:v>0</c:v>
                </c:pt>
                <c:pt idx="2">
                  <c:v>0</c:v>
                </c:pt>
                <c:pt idx="3">
                  <c:v>34.4</c:v>
                </c:pt>
                <c:pt idx="4">
                  <c:v>0</c:v>
                </c:pt>
                <c:pt idx="5">
                  <c:v>0</c:v>
                </c:pt>
              </c:numCache>
            </c:numRef>
          </c:val>
        </c:ser>
        <c:dLbls>
          <c:numFmt formatCode="0.0;;;" sourceLinked="0"/>
          <c:txPr>
            <a:bodyPr/>
            <a:lstStyle/>
            <a:p>
              <a:pPr>
                <a:defRPr b="0" i="0" strike="noStrike" sz="1100" u="none">
                  <a:solidFill>
                    <a:srgbClr val="FFFFFF"/>
                  </a:solidFill>
                  <a:latin typeface="+mn-lt"/>
                </a:defRPr>
              </a:pPr>
            </a:p>
          </c:txPr>
          <c:dLblPos val="inEnd"/>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2B2233"/>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[Eka] Assalamualaikum. Kami Kelompok 21. Kami membandingkan dua cara mengolah data besar: Hadoop MapReduce dan Apache Spark. Keduanya kami pakai untuk mengolah data yang sama, lalu kami ukur mana yang lebih cepat dan mana yang lebih hemat sumber daya.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[Eka] Pertanyaan kami: mana yang lebih cepat dan hemat, MapReduce atau Spark? Datanya log server web NASA bulan Juli sampai Agustus 1995, berukuran 356 MB dengan 3,46 juta request. Dari data itu kami menjawab tiga pertanyaan: siapa yang paling sering mengakses, berapa request yang berhasil dan gagal, dan jam berapa server paling sibuk. Setiap pertanyaan dijawab dengan empat cara: MapReduce, MapReduce dengan combiner, Spark RDD, dan Spark DataFrame.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[Zahrul] Alur datanya seperti di diagram: log diunduh, disimpan sebagai satu berkas, lalu diolah dengan empat cara tadi. Semuanya berjalan di Google Colab, satu mesin dengan 2 inti CPU. Jadi ini simulasi pengolahan terdistribusi, bukan cluster sungguhan. Ada dua skenario: setiap pertanyaan dijawab sendiri, dan tiga pertanyaan dijawab sekaligus. Setiap pengukuran diulang tiga kali setelah satu putaran pemanasan.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[Zahrul] Sebelum membandingkan kecepatan, kami pastikan dulu semua cara memberi jawaban yang sama. Notebook mencocokkan hasilnya baris demi baris: 137.978 host, 8 kode status, dan 24 jam, semuanya identik untuk keempat cara. Jadi perbandingan kecepatan berikutnya adil.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[Bujur] Ini hasil utamanya. Batang abu-abu adalah MapReduce, sekitar 65 sampai 70 detik. Spark, yang oranye dan ungu, hanya 16 sampai 31 detik, jadi 2,2 sampai 4,1 kali lebih cepat. Tapi ada harganya: Spark memakai RAM sekitar dua kali lipat. Combiner, batang abu-abu muda, hampir tidak mengubah waktu MapReduce. Satu catatan: menyalakan Spark sendiri butuh 26 detik, tapi itu hanya sekali di awal.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[Bujur] Di skenario kedua, tiga pertanyaan dijawab sekaligus. MapReduce harus membaca berkas tiga kali, jadi butuh sekitar 204 detik. Spark dengan cache cukup mengolah berkas sekali, menyimpannya di memori, lalu memakainya untuk ketiga pertanyaan. Hasilnya Spark RDD dengan cache hanya 34 detik, 5,9 kali lebih cepat dari MapReduce.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[Riyan] Kenapa hasilnya begitu? Pertama, MapReduce menulis hasil antara ke disk, sedangkan Spark meneruskannya langsung di memori. Kedua, Spark menyusun rencana kerja atau DAG dulu, dan menjumlahkan sementara sebelum shuffle. Ketiga, combiner tidak berpengaruh karena di satu mesin shuffle itu murah. Keempat, DataFrame lambat di pertanyaan jam karena regex dijalankan empat kali per baris di kode kami.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[Riyan] Kesimpulannya: keempat cara memberi jawaban yang sama, dan Spark 2,2 sampai 4,1 kali lebih cepat, bahkan 5,9 kali dengan cache. Harganya, Spark butuh RAM sekitar dua kali dan waktu menyalakan 26 detik. Jadi pilihannya tergantung kebutuhan: DataFrame untuk data tabel, cache untuk data yang dipakai berulang, dan MapReduce kalau data sangat besar dan RAM terbatas. Terima kasih, kami siap menjawab pertanyaan.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Judul Gelap">
    <p:bg>
      <p:bgPr>
        <a:solidFill>
          <a:schemeClr val="accent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onten">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000" b="1" dirty="0">
                <a:solidFill>
                  <a:schemeClr val="accent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Kelompok 21 · IT Platform and Infrastructure</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enutup Gelap">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artu logo"/>
          <p:cNvSpPr/>
          <p:nvPr/>
        </p:nvSpPr>
        <p:spPr>
          <a:xfrm>
            <a:off x="548640" y="1234440"/>
            <a:ext cx="2103120" cy="2103120"/>
          </a:xfrm>
          <a:prstGeom prst="roundRect">
            <a:avLst>
              <a:gd name="adj" fmla="val 8696"/>
            </a:avLst>
          </a:prstGeom>
          <a:solidFill>
            <a:schemeClr val="bg1"/>
          </a:solidFill>
          <a:ln/>
        </p:spPr>
      </p:sp>
      <p:pic>
        <p:nvPicPr>
          <p:cNvPr id="3" name="logo AMIKOM" descr="Logo Universitas AMIKOM Yogyakarta">    </p:cNvPr>
          <p:cNvPicPr>
            <a:picLocks noChangeAspect="1"/>
          </p:cNvPicPr>
          <p:nvPr/>
        </p:nvPicPr>
        <p:blipFill>
          <a:blip r:embed="rId1"/>
          <a:stretch>
            <a:fillRect/>
          </a:stretch>
        </p:blipFill>
        <p:spPr>
          <a:xfrm>
            <a:off x="777240" y="1463040"/>
            <a:ext cx="1645920" cy="1598600"/>
          </a:xfrm>
          <a:prstGeom prst="rect">
            <a:avLst/>
          </a:prstGeom>
        </p:spPr>
      </p:pic>
      <p:sp>
        <p:nvSpPr>
          <p:cNvPr id="4" name="label tugas"/>
          <p:cNvSpPr txBox="1"/>
          <p:nvPr/>
        </p:nvSpPr>
        <p:spPr>
          <a:xfrm>
            <a:off x="3017520" y="868680"/>
            <a:ext cx="5669280" cy="320040"/>
          </a:xfrm>
          <a:prstGeom prst="rect">
            <a:avLst/>
          </a:prstGeom>
          <a:noFill/>
          <a:ln/>
        </p:spPr>
        <p:txBody>
          <a:bodyPr wrap="square" lIns="0" tIns="0" rIns="0" bIns="0" rtlCol="0" anchor="ctr"/>
          <a:lstStyle/>
          <a:p>
            <a:pPr indent="0" marL="0">
              <a:buNone/>
            </a:pPr>
            <a:r>
              <a:rPr lang="en-US" sz="1200" b="1" spc="200" kern="0" dirty="0">
                <a:solidFill>
                  <a:schemeClr val="accent3"/>
                </a:solidFill>
              </a:rPr>
              <a:t>TUGAS 2 · IT PLATFORM AND INFRASTRUCTURE</a:t>
            </a:r>
            <a:endParaRPr lang="en-US" sz="1200" dirty="0"/>
          </a:p>
        </p:txBody>
      </p:sp>
      <p:sp>
        <p:nvSpPr>
          <p:cNvPr id="5" name="judul"/>
          <p:cNvSpPr txBox="1"/>
          <p:nvPr/>
        </p:nvSpPr>
        <p:spPr>
          <a:xfrm>
            <a:off x="3017520" y="1188720"/>
            <a:ext cx="5669280" cy="777240"/>
          </a:xfrm>
          <a:prstGeom prst="rect">
            <a:avLst/>
          </a:prstGeom>
          <a:noFill/>
          <a:ln/>
        </p:spPr>
        <p:txBody>
          <a:bodyPr wrap="square" lIns="0" tIns="0" rIns="0" bIns="0" rtlCol="0" anchor="ctr"/>
          <a:lstStyle/>
          <a:p>
            <a:pPr indent="0" marL="0">
              <a:buNone/>
            </a:pPr>
            <a:r>
              <a:rPr lang="en-US" sz="4000" b="1" dirty="0">
                <a:solidFill>
                  <a:schemeClr val="bg1"/>
                </a:solidFill>
                <a:latin typeface="Cambria" pitchFamily="34" charset="0"/>
                <a:ea typeface="Cambria" pitchFamily="34" charset="-122"/>
                <a:cs typeface="Cambria" pitchFamily="34" charset="-120"/>
              </a:rPr>
              <a:t>MapReduce vs Spark</a:t>
            </a:r>
            <a:endParaRPr lang="en-US" sz="4000" dirty="0"/>
          </a:p>
        </p:txBody>
      </p:sp>
      <p:sp>
        <p:nvSpPr>
          <p:cNvPr id="6" name="subjudul"/>
          <p:cNvSpPr txBox="1"/>
          <p:nvPr/>
        </p:nvSpPr>
        <p:spPr>
          <a:xfrm>
            <a:off x="3017520" y="1965960"/>
            <a:ext cx="5669280" cy="640080"/>
          </a:xfrm>
          <a:prstGeom prst="rect">
            <a:avLst/>
          </a:prstGeom>
          <a:noFill/>
          <a:ln/>
        </p:spPr>
        <p:txBody>
          <a:bodyPr wrap="square" lIns="0" tIns="0" rIns="0" bIns="0" rtlCol="0" anchor="t"/>
          <a:lstStyle/>
          <a:p>
            <a:pPr indent="0" marL="0">
              <a:buNone/>
            </a:pPr>
            <a:r>
              <a:rPr lang="en-US" sz="1800" dirty="0">
                <a:solidFill>
                  <a:schemeClr val="bg2"/>
                </a:solidFill>
              </a:rPr>
              <a:t>Analisis komparatif pipeline pemrosesan batch pada log server NASA</a:t>
            </a:r>
            <a:endParaRPr lang="en-US" sz="1800" dirty="0"/>
          </a:p>
        </p:txBody>
      </p:sp>
      <p:sp>
        <p:nvSpPr>
          <p:cNvPr id="7" name="anggota 1"/>
          <p:cNvSpPr txBox="1"/>
          <p:nvPr/>
        </p:nvSpPr>
        <p:spPr>
          <a:xfrm>
            <a:off x="3017520" y="2880360"/>
            <a:ext cx="2743200" cy="457200"/>
          </a:xfrm>
          <a:prstGeom prst="rect">
            <a:avLst/>
          </a:prstGeom>
          <a:noFill/>
          <a:ln/>
        </p:spPr>
        <p:txBody>
          <a:bodyPr wrap="square" lIns="0" tIns="0" rIns="0" bIns="0" rtlCol="0" anchor="t"/>
          <a:lstStyle/>
          <a:p>
            <a:pPr indent="0" marL="0">
              <a:buNone/>
            </a:pPr>
            <a:r>
              <a:rPr lang="en-US" sz="1300" b="1" dirty="0">
                <a:solidFill>
                  <a:schemeClr val="bg1"/>
                </a:solidFill>
              </a:rPr>
              <a:t>Eka Putra Kurnia</a:t>
            </a:r>
            <a:endParaRPr lang="en-US" sz="1300" dirty="0"/>
          </a:p>
          <a:p>
            <a:pPr indent="0" marL="0">
              <a:buNone/>
            </a:pPr>
            <a:r>
              <a:rPr lang="en-US" sz="1300" dirty="0">
                <a:solidFill>
                  <a:schemeClr val="bg2"/>
                </a:solidFill>
              </a:rPr>
              <a:t>25.55.2927</a:t>
            </a:r>
            <a:endParaRPr lang="en-US" sz="1300" dirty="0"/>
          </a:p>
        </p:txBody>
      </p:sp>
      <p:sp>
        <p:nvSpPr>
          <p:cNvPr id="8" name="anggota 2"/>
          <p:cNvSpPr txBox="1"/>
          <p:nvPr/>
        </p:nvSpPr>
        <p:spPr>
          <a:xfrm>
            <a:off x="5852160" y="2880360"/>
            <a:ext cx="2743200" cy="457200"/>
          </a:xfrm>
          <a:prstGeom prst="rect">
            <a:avLst/>
          </a:prstGeom>
          <a:noFill/>
          <a:ln/>
        </p:spPr>
        <p:txBody>
          <a:bodyPr wrap="square" lIns="0" tIns="0" rIns="0" bIns="0" rtlCol="0" anchor="t"/>
          <a:lstStyle/>
          <a:p>
            <a:pPr indent="0" marL="0">
              <a:buNone/>
            </a:pPr>
            <a:r>
              <a:rPr lang="en-US" sz="1300" b="1" dirty="0">
                <a:solidFill>
                  <a:schemeClr val="bg1"/>
                </a:solidFill>
              </a:rPr>
              <a:t>Zahrul Amri Hutabarat</a:t>
            </a:r>
            <a:endParaRPr lang="en-US" sz="1300" dirty="0"/>
          </a:p>
          <a:p>
            <a:pPr indent="0" marL="0">
              <a:buNone/>
            </a:pPr>
            <a:r>
              <a:rPr lang="en-US" sz="1300" dirty="0">
                <a:solidFill>
                  <a:schemeClr val="bg2"/>
                </a:solidFill>
              </a:rPr>
              <a:t>25.55.2900</a:t>
            </a:r>
            <a:endParaRPr lang="en-US" sz="1300" dirty="0"/>
          </a:p>
        </p:txBody>
      </p:sp>
      <p:sp>
        <p:nvSpPr>
          <p:cNvPr id="9" name="anggota 3"/>
          <p:cNvSpPr txBox="1"/>
          <p:nvPr/>
        </p:nvSpPr>
        <p:spPr>
          <a:xfrm>
            <a:off x="3017520" y="3383280"/>
            <a:ext cx="2743200" cy="457200"/>
          </a:xfrm>
          <a:prstGeom prst="rect">
            <a:avLst/>
          </a:prstGeom>
          <a:noFill/>
          <a:ln/>
        </p:spPr>
        <p:txBody>
          <a:bodyPr wrap="square" lIns="0" tIns="0" rIns="0" bIns="0" rtlCol="0" anchor="t"/>
          <a:lstStyle/>
          <a:p>
            <a:pPr indent="0" marL="0">
              <a:buNone/>
            </a:pPr>
            <a:r>
              <a:rPr lang="en-US" sz="1300" b="1" dirty="0">
                <a:solidFill>
                  <a:schemeClr val="bg1"/>
                </a:solidFill>
              </a:rPr>
              <a:t>Bujur Depoin Sianipar</a:t>
            </a:r>
            <a:endParaRPr lang="en-US" sz="1300" dirty="0"/>
          </a:p>
          <a:p>
            <a:pPr indent="0" marL="0">
              <a:buNone/>
            </a:pPr>
            <a:r>
              <a:rPr lang="en-US" sz="1300" dirty="0">
                <a:solidFill>
                  <a:schemeClr val="bg2"/>
                </a:solidFill>
              </a:rPr>
              <a:t>25.55.2879</a:t>
            </a:r>
            <a:endParaRPr lang="en-US" sz="1300" dirty="0"/>
          </a:p>
        </p:txBody>
      </p:sp>
      <p:sp>
        <p:nvSpPr>
          <p:cNvPr id="10" name="anggota 4"/>
          <p:cNvSpPr txBox="1"/>
          <p:nvPr/>
        </p:nvSpPr>
        <p:spPr>
          <a:xfrm>
            <a:off x="5852160" y="3383280"/>
            <a:ext cx="2743200" cy="457200"/>
          </a:xfrm>
          <a:prstGeom prst="rect">
            <a:avLst/>
          </a:prstGeom>
          <a:noFill/>
          <a:ln/>
        </p:spPr>
        <p:txBody>
          <a:bodyPr wrap="square" lIns="0" tIns="0" rIns="0" bIns="0" rtlCol="0" anchor="t"/>
          <a:lstStyle/>
          <a:p>
            <a:pPr indent="0" marL="0">
              <a:buNone/>
            </a:pPr>
            <a:r>
              <a:rPr lang="en-US" sz="1300" b="1" dirty="0">
                <a:solidFill>
                  <a:schemeClr val="bg1"/>
                </a:solidFill>
              </a:rPr>
              <a:t>Riyan Pratomo Saputra</a:t>
            </a:r>
            <a:endParaRPr lang="en-US" sz="1300" dirty="0"/>
          </a:p>
          <a:p>
            <a:pPr indent="0" marL="0">
              <a:buNone/>
            </a:pPr>
            <a:r>
              <a:rPr lang="en-US" sz="1300" dirty="0">
                <a:solidFill>
                  <a:schemeClr val="bg2"/>
                </a:solidFill>
              </a:rPr>
              <a:t>25.55.2857</a:t>
            </a:r>
            <a:endParaRPr lang="en-US" sz="1300" dirty="0"/>
          </a:p>
        </p:txBody>
      </p:sp>
      <p:sp>
        <p:nvSpPr>
          <p:cNvPr id="11" name="keterangan"/>
          <p:cNvSpPr txBox="1"/>
          <p:nvPr/>
        </p:nvSpPr>
        <p:spPr>
          <a:xfrm>
            <a:off x="548640" y="4343400"/>
            <a:ext cx="8138160" cy="320040"/>
          </a:xfrm>
          <a:prstGeom prst="rect">
            <a:avLst/>
          </a:prstGeom>
          <a:noFill/>
          <a:ln/>
        </p:spPr>
        <p:txBody>
          <a:bodyPr wrap="square" lIns="0" tIns="0" rIns="0" bIns="0" rtlCol="0" anchor="ctr"/>
          <a:lstStyle/>
          <a:p>
            <a:pPr indent="0" marL="0">
              <a:buNone/>
            </a:pPr>
            <a:r>
              <a:rPr lang="en-US" sz="1200" dirty="0">
                <a:solidFill>
                  <a:schemeClr val="bg2"/>
                </a:solidFill>
              </a:rPr>
              <a:t>Kelompok 21 · Dosen: Hanafi, S.Kom., M.Eng., Ph.D. · Universitas AMIKOM Yogyakarta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accent1"/>
                </a:solidFill>
                <a:latin typeface="Cambria" pitchFamily="34" charset="0"/>
                <a:ea typeface="Cambria" pitchFamily="34" charset="-122"/>
                <a:cs typeface="Cambria" pitchFamily="34" charset="-120"/>
              </a:rPr>
              <a:t>Pertanyaan dan data</a:t>
            </a:r>
            <a:endParaRPr lang="en-US" sz="3000" dirty="0"/>
          </a:p>
        </p:txBody>
      </p:sp>
      <p:sp>
        <p:nvSpPr>
          <p:cNvPr id="3" name="pertanyaan riset"/>
          <p:cNvSpPr txBox="1"/>
          <p:nvPr/>
        </p:nvSpPr>
        <p:spPr>
          <a:xfrm>
            <a:off x="457200" y="1005840"/>
            <a:ext cx="8229600" cy="457200"/>
          </a:xfrm>
          <a:prstGeom prst="rect">
            <a:avLst/>
          </a:prstGeom>
          <a:noFill/>
          <a:ln/>
        </p:spPr>
        <p:txBody>
          <a:bodyPr wrap="square" lIns="0" tIns="0" rIns="0" bIns="0" rtlCol="0" anchor="ctr"/>
          <a:lstStyle/>
          <a:p>
            <a:pPr indent="0" marL="0">
              <a:buNone/>
            </a:pPr>
            <a:r>
              <a:rPr lang="en-US" sz="1700" i="1" dirty="0">
                <a:solidFill>
                  <a:schemeClr val="tx1"/>
                </a:solidFill>
              </a:rPr>
              <a:t>Mana yang lebih cepat dan lebih hemat untuk pemrosesan batch: MapReduce atau Spark?</a:t>
            </a:r>
            <a:endParaRPr lang="en-US" sz="1700" dirty="0"/>
          </a:p>
        </p:txBody>
      </p:sp>
      <p:sp>
        <p:nvSpPr>
          <p:cNvPr id="4" name="ukuran data kartu"/>
          <p:cNvSpPr/>
          <p:nvPr/>
        </p:nvSpPr>
        <p:spPr>
          <a:xfrm>
            <a:off x="457200" y="1645920"/>
            <a:ext cx="2560320" cy="1463040"/>
          </a:xfrm>
          <a:prstGeom prst="roundRect">
            <a:avLst>
              <a:gd name="adj" fmla="val 7500"/>
            </a:avLst>
          </a:prstGeom>
          <a:solidFill>
            <a:schemeClr val="bg2"/>
          </a:solidFill>
          <a:ln/>
        </p:spPr>
      </p:sp>
      <p:sp>
        <p:nvSpPr>
          <p:cNvPr id="5" name="ukuran data angka"/>
          <p:cNvSpPr txBox="1"/>
          <p:nvPr/>
        </p:nvSpPr>
        <p:spPr>
          <a:xfrm>
            <a:off x="640080" y="1783080"/>
            <a:ext cx="2194560" cy="731520"/>
          </a:xfrm>
          <a:prstGeom prst="rect">
            <a:avLst/>
          </a:prstGeom>
          <a:noFill/>
          <a:ln/>
        </p:spPr>
        <p:txBody>
          <a:bodyPr wrap="square" lIns="0" tIns="0" rIns="0" bIns="0" rtlCol="0" anchor="b"/>
          <a:lstStyle/>
          <a:p>
            <a:pPr indent="0" marL="0">
              <a:buNone/>
            </a:pPr>
            <a:r>
              <a:rPr lang="en-US" sz="3400" b="1" dirty="0">
                <a:solidFill>
                  <a:schemeClr val="accent1"/>
                </a:solidFill>
                <a:latin typeface="Cambria" pitchFamily="34" charset="0"/>
                <a:ea typeface="Cambria" pitchFamily="34" charset="-122"/>
                <a:cs typeface="Cambria" pitchFamily="34" charset="-120"/>
              </a:rPr>
              <a:t>356 MB</a:t>
            </a:r>
            <a:endParaRPr lang="en-US" sz="3400" dirty="0"/>
          </a:p>
        </p:txBody>
      </p:sp>
      <p:sp>
        <p:nvSpPr>
          <p:cNvPr id="6" name="ukuran data keterangan"/>
          <p:cNvSpPr txBox="1"/>
          <p:nvPr/>
        </p:nvSpPr>
        <p:spPr>
          <a:xfrm>
            <a:off x="640080" y="2514600"/>
            <a:ext cx="2194560" cy="457200"/>
          </a:xfrm>
          <a:prstGeom prst="rect">
            <a:avLst/>
          </a:prstGeom>
          <a:noFill/>
          <a:ln/>
        </p:spPr>
        <p:txBody>
          <a:bodyPr wrap="square" lIns="0" tIns="0" rIns="0" bIns="0" rtlCol="0" anchor="t"/>
          <a:lstStyle/>
          <a:p>
            <a:pPr indent="0" marL="0">
              <a:buNone/>
            </a:pPr>
            <a:r>
              <a:rPr lang="en-US" sz="1400" dirty="0">
                <a:solidFill>
                  <a:schemeClr val="tx1"/>
                </a:solidFill>
              </a:rPr>
              <a:t>log server NASA, Juli–Agustus 1995</a:t>
            </a:r>
            <a:endParaRPr lang="en-US" sz="1400" dirty="0"/>
          </a:p>
        </p:txBody>
      </p:sp>
      <p:sp>
        <p:nvSpPr>
          <p:cNvPr id="7" name="jumlah request kartu"/>
          <p:cNvSpPr/>
          <p:nvPr/>
        </p:nvSpPr>
        <p:spPr>
          <a:xfrm>
            <a:off x="3291840" y="1645920"/>
            <a:ext cx="2560320" cy="1463040"/>
          </a:xfrm>
          <a:prstGeom prst="roundRect">
            <a:avLst>
              <a:gd name="adj" fmla="val 7500"/>
            </a:avLst>
          </a:prstGeom>
          <a:solidFill>
            <a:schemeClr val="bg2"/>
          </a:solidFill>
          <a:ln/>
        </p:spPr>
      </p:sp>
      <p:sp>
        <p:nvSpPr>
          <p:cNvPr id="8" name="jumlah request angka"/>
          <p:cNvSpPr txBox="1"/>
          <p:nvPr/>
        </p:nvSpPr>
        <p:spPr>
          <a:xfrm>
            <a:off x="3474720" y="1783080"/>
            <a:ext cx="2194560" cy="731520"/>
          </a:xfrm>
          <a:prstGeom prst="rect">
            <a:avLst/>
          </a:prstGeom>
          <a:noFill/>
          <a:ln/>
        </p:spPr>
        <p:txBody>
          <a:bodyPr wrap="square" lIns="0" tIns="0" rIns="0" bIns="0" rtlCol="0" anchor="b"/>
          <a:lstStyle/>
          <a:p>
            <a:pPr indent="0" marL="0">
              <a:buNone/>
            </a:pPr>
            <a:r>
              <a:rPr lang="en-US" sz="3400" b="1" dirty="0">
                <a:solidFill>
                  <a:schemeClr val="accent1"/>
                </a:solidFill>
                <a:latin typeface="Cambria" pitchFamily="34" charset="0"/>
                <a:ea typeface="Cambria" pitchFamily="34" charset="-122"/>
                <a:cs typeface="Cambria" pitchFamily="34" charset="-120"/>
              </a:rPr>
              <a:t>3,46 juta</a:t>
            </a:r>
            <a:endParaRPr lang="en-US" sz="3400" dirty="0"/>
          </a:p>
        </p:txBody>
      </p:sp>
      <p:sp>
        <p:nvSpPr>
          <p:cNvPr id="9" name="jumlah request keterangan"/>
          <p:cNvSpPr txBox="1"/>
          <p:nvPr/>
        </p:nvSpPr>
        <p:spPr>
          <a:xfrm>
            <a:off x="3474720" y="2514600"/>
            <a:ext cx="2194560" cy="457200"/>
          </a:xfrm>
          <a:prstGeom prst="rect">
            <a:avLst/>
          </a:prstGeom>
          <a:noFill/>
          <a:ln/>
        </p:spPr>
        <p:txBody>
          <a:bodyPr wrap="square" lIns="0" tIns="0" rIns="0" bIns="0" rtlCol="0" anchor="t"/>
          <a:lstStyle/>
          <a:p>
            <a:pPr indent="0" marL="0">
              <a:buNone/>
            </a:pPr>
            <a:r>
              <a:rPr lang="en-US" sz="1400" dirty="0">
                <a:solidFill>
                  <a:schemeClr val="tx1"/>
                </a:solidFill>
              </a:rPr>
              <a:t>request (satu baris log = satu request)</a:t>
            </a:r>
            <a:endParaRPr lang="en-US" sz="1400" dirty="0"/>
          </a:p>
        </p:txBody>
      </p:sp>
      <p:sp>
        <p:nvSpPr>
          <p:cNvPr id="10" name="pertanyaan kartu"/>
          <p:cNvSpPr/>
          <p:nvPr/>
        </p:nvSpPr>
        <p:spPr>
          <a:xfrm>
            <a:off x="6126480" y="1645920"/>
            <a:ext cx="2560320" cy="1463040"/>
          </a:xfrm>
          <a:prstGeom prst="roundRect">
            <a:avLst>
              <a:gd name="adj" fmla="val 7500"/>
            </a:avLst>
          </a:prstGeom>
          <a:solidFill>
            <a:schemeClr val="bg2"/>
          </a:solidFill>
          <a:ln/>
        </p:spPr>
      </p:sp>
      <p:sp>
        <p:nvSpPr>
          <p:cNvPr id="11" name="pertanyaan angka"/>
          <p:cNvSpPr txBox="1"/>
          <p:nvPr/>
        </p:nvSpPr>
        <p:spPr>
          <a:xfrm>
            <a:off x="6309360" y="1783080"/>
            <a:ext cx="2194560" cy="731520"/>
          </a:xfrm>
          <a:prstGeom prst="rect">
            <a:avLst/>
          </a:prstGeom>
          <a:noFill/>
          <a:ln/>
        </p:spPr>
        <p:txBody>
          <a:bodyPr wrap="square" lIns="0" tIns="0" rIns="0" bIns="0" rtlCol="0" anchor="b"/>
          <a:lstStyle/>
          <a:p>
            <a:pPr indent="0" marL="0">
              <a:buNone/>
            </a:pPr>
            <a:r>
              <a:rPr lang="en-US" sz="3400" b="1" dirty="0">
                <a:solidFill>
                  <a:schemeClr val="accent1"/>
                </a:solidFill>
                <a:latin typeface="Cambria" pitchFamily="34" charset="0"/>
                <a:ea typeface="Cambria" pitchFamily="34" charset="-122"/>
                <a:cs typeface="Cambria" pitchFamily="34" charset="-120"/>
              </a:rPr>
              <a:t>3</a:t>
            </a:r>
            <a:endParaRPr lang="en-US" sz="3400" dirty="0"/>
          </a:p>
        </p:txBody>
      </p:sp>
      <p:sp>
        <p:nvSpPr>
          <p:cNvPr id="12" name="pertanyaan keterangan"/>
          <p:cNvSpPr txBox="1"/>
          <p:nvPr/>
        </p:nvSpPr>
        <p:spPr>
          <a:xfrm>
            <a:off x="6309360" y="2514600"/>
            <a:ext cx="2194560" cy="457200"/>
          </a:xfrm>
          <a:prstGeom prst="rect">
            <a:avLst/>
          </a:prstGeom>
          <a:noFill/>
          <a:ln/>
        </p:spPr>
        <p:txBody>
          <a:bodyPr wrap="square" lIns="0" tIns="0" rIns="0" bIns="0" rtlCol="0" anchor="t"/>
          <a:lstStyle/>
          <a:p>
            <a:pPr indent="0" marL="0">
              <a:buNone/>
            </a:pPr>
            <a:r>
              <a:rPr lang="en-US" sz="1400" dirty="0">
                <a:solidFill>
                  <a:schemeClr val="tx1"/>
                </a:solidFill>
              </a:rPr>
              <a:t>pertanyaan: per host, per kode status, per jam</a:t>
            </a:r>
            <a:endParaRPr lang="en-US" sz="1400" dirty="0"/>
          </a:p>
        </p:txBody>
      </p:sp>
      <p:sp>
        <p:nvSpPr>
          <p:cNvPr id="13" name="label cara"/>
          <p:cNvSpPr txBox="1"/>
          <p:nvPr/>
        </p:nvSpPr>
        <p:spPr>
          <a:xfrm>
            <a:off x="457200" y="3429000"/>
            <a:ext cx="8229600" cy="320040"/>
          </a:xfrm>
          <a:prstGeom prst="rect">
            <a:avLst/>
          </a:prstGeom>
          <a:noFill/>
          <a:ln/>
        </p:spPr>
        <p:txBody>
          <a:bodyPr wrap="square" lIns="0" tIns="0" rIns="0" bIns="0" rtlCol="0" anchor="ctr"/>
          <a:lstStyle/>
          <a:p>
            <a:pPr indent="0" marL="0">
              <a:buNone/>
            </a:pPr>
            <a:r>
              <a:rPr lang="en-US" sz="1400" b="1" dirty="0">
                <a:solidFill>
                  <a:schemeClr val="tx1"/>
                </a:solidFill>
              </a:rPr>
              <a:t>Dijawab dengan 4 cara:</a:t>
            </a:r>
            <a:endParaRPr lang="en-US" sz="1400" dirty="0"/>
          </a:p>
        </p:txBody>
      </p:sp>
      <p:sp>
        <p:nvSpPr>
          <p:cNvPr id="14" name="MapReduce chip"/>
          <p:cNvSpPr/>
          <p:nvPr/>
        </p:nvSpPr>
        <p:spPr>
          <a:xfrm>
            <a:off x="457200" y="3840480"/>
            <a:ext cx="1554480" cy="384048"/>
          </a:xfrm>
          <a:prstGeom prst="roundRect">
            <a:avLst>
              <a:gd name="adj" fmla="val 50000"/>
            </a:avLst>
          </a:prstGeom>
          <a:solidFill>
            <a:srgbClr val="9C95A3"/>
          </a:solidFill>
          <a:ln/>
        </p:spPr>
      </p:sp>
      <p:sp>
        <p:nvSpPr>
          <p:cNvPr id="15" name="MapReduce teks"/>
          <p:cNvSpPr txBox="1"/>
          <p:nvPr/>
        </p:nvSpPr>
        <p:spPr>
          <a:xfrm>
            <a:off x="457200" y="3840480"/>
            <a:ext cx="1554480" cy="384048"/>
          </a:xfrm>
          <a:prstGeom prst="rect">
            <a:avLst/>
          </a:prstGeom>
          <a:noFill/>
          <a:ln/>
        </p:spPr>
        <p:txBody>
          <a:bodyPr wrap="square" lIns="0" tIns="0" rIns="0" bIns="0" rtlCol="0" anchor="ctr"/>
          <a:lstStyle/>
          <a:p>
            <a:pPr algn="ctr" indent="0" marL="0">
              <a:buNone/>
            </a:pPr>
            <a:r>
              <a:rPr lang="en-US" sz="1300" b="1" dirty="0">
                <a:solidFill>
                  <a:schemeClr val="tx1"/>
                </a:solidFill>
              </a:rPr>
              <a:t>MapReduce</a:t>
            </a:r>
            <a:endParaRPr lang="en-US" sz="1300" dirty="0"/>
          </a:p>
        </p:txBody>
      </p:sp>
      <p:sp>
        <p:nvSpPr>
          <p:cNvPr id="16" name="MapReduce + combiner chip"/>
          <p:cNvSpPr/>
          <p:nvPr/>
        </p:nvSpPr>
        <p:spPr>
          <a:xfrm>
            <a:off x="2258568" y="3840480"/>
            <a:ext cx="2377440" cy="384048"/>
          </a:xfrm>
          <a:prstGeom prst="roundRect">
            <a:avLst>
              <a:gd name="adj" fmla="val 50000"/>
            </a:avLst>
          </a:prstGeom>
          <a:solidFill>
            <a:srgbClr val="C9C4CE"/>
          </a:solidFill>
          <a:ln/>
        </p:spPr>
      </p:sp>
      <p:sp>
        <p:nvSpPr>
          <p:cNvPr id="17" name="MapReduce + combiner teks"/>
          <p:cNvSpPr txBox="1"/>
          <p:nvPr/>
        </p:nvSpPr>
        <p:spPr>
          <a:xfrm>
            <a:off x="2258568" y="3840480"/>
            <a:ext cx="2377440" cy="384048"/>
          </a:xfrm>
          <a:prstGeom prst="rect">
            <a:avLst/>
          </a:prstGeom>
          <a:noFill/>
          <a:ln/>
        </p:spPr>
        <p:txBody>
          <a:bodyPr wrap="square" lIns="0" tIns="0" rIns="0" bIns="0" rtlCol="0" anchor="ctr"/>
          <a:lstStyle/>
          <a:p>
            <a:pPr algn="ctr" indent="0" marL="0">
              <a:buNone/>
            </a:pPr>
            <a:r>
              <a:rPr lang="en-US" sz="1300" b="1" dirty="0">
                <a:solidFill>
                  <a:schemeClr val="tx1"/>
                </a:solidFill>
              </a:rPr>
              <a:t>MapReduce + combiner</a:t>
            </a:r>
            <a:endParaRPr lang="en-US" sz="1300" dirty="0"/>
          </a:p>
        </p:txBody>
      </p:sp>
      <p:sp>
        <p:nvSpPr>
          <p:cNvPr id="18" name="Spark RDD chip"/>
          <p:cNvSpPr/>
          <p:nvPr/>
        </p:nvSpPr>
        <p:spPr>
          <a:xfrm>
            <a:off x="4882896" y="3840480"/>
            <a:ext cx="1554480" cy="384048"/>
          </a:xfrm>
          <a:prstGeom prst="roundRect">
            <a:avLst>
              <a:gd name="adj" fmla="val 50000"/>
            </a:avLst>
          </a:prstGeom>
          <a:solidFill>
            <a:srgbClr val="F7931E"/>
          </a:solidFill>
          <a:ln/>
        </p:spPr>
      </p:sp>
      <p:sp>
        <p:nvSpPr>
          <p:cNvPr id="19" name="Spark RDD teks"/>
          <p:cNvSpPr txBox="1"/>
          <p:nvPr/>
        </p:nvSpPr>
        <p:spPr>
          <a:xfrm>
            <a:off x="4882896" y="3840480"/>
            <a:ext cx="1554480" cy="384048"/>
          </a:xfrm>
          <a:prstGeom prst="rect">
            <a:avLst/>
          </a:prstGeom>
          <a:noFill/>
          <a:ln/>
        </p:spPr>
        <p:txBody>
          <a:bodyPr wrap="square" lIns="0" tIns="0" rIns="0" bIns="0" rtlCol="0" anchor="ctr"/>
          <a:lstStyle/>
          <a:p>
            <a:pPr algn="ctr" indent="0" marL="0">
              <a:buNone/>
            </a:pPr>
            <a:r>
              <a:rPr lang="en-US" sz="1300" b="1" dirty="0">
                <a:solidFill>
                  <a:schemeClr val="bg1"/>
                </a:solidFill>
              </a:rPr>
              <a:t>Spark RDD</a:t>
            </a:r>
            <a:endParaRPr lang="en-US" sz="1300" dirty="0"/>
          </a:p>
        </p:txBody>
      </p:sp>
      <p:sp>
        <p:nvSpPr>
          <p:cNvPr id="20" name="Spark DataFrame chip"/>
          <p:cNvSpPr/>
          <p:nvPr/>
        </p:nvSpPr>
        <p:spPr>
          <a:xfrm>
            <a:off x="6684264" y="3840480"/>
            <a:ext cx="2011680" cy="384048"/>
          </a:xfrm>
          <a:prstGeom prst="roundRect">
            <a:avLst>
              <a:gd name="adj" fmla="val 50000"/>
            </a:avLst>
          </a:prstGeom>
          <a:solidFill>
            <a:srgbClr val="6B1D78"/>
          </a:solidFill>
          <a:ln/>
        </p:spPr>
      </p:sp>
      <p:sp>
        <p:nvSpPr>
          <p:cNvPr id="21" name="Spark DataFrame teks"/>
          <p:cNvSpPr txBox="1"/>
          <p:nvPr/>
        </p:nvSpPr>
        <p:spPr>
          <a:xfrm>
            <a:off x="6684264" y="3840480"/>
            <a:ext cx="2011680" cy="384048"/>
          </a:xfrm>
          <a:prstGeom prst="rect">
            <a:avLst/>
          </a:prstGeom>
          <a:noFill/>
          <a:ln/>
        </p:spPr>
        <p:txBody>
          <a:bodyPr wrap="square" lIns="0" tIns="0" rIns="0" bIns="0" rtlCol="0" anchor="ctr"/>
          <a:lstStyle/>
          <a:p>
            <a:pPr algn="ctr" indent="0" marL="0">
              <a:buNone/>
            </a:pPr>
            <a:r>
              <a:rPr lang="en-US" sz="1300" b="1" dirty="0">
                <a:solidFill>
                  <a:schemeClr val="bg1"/>
                </a:solidFill>
              </a:rPr>
              <a:t>Spark DataFrame</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accent1"/>
                </a:solidFill>
                <a:latin typeface="Cambria" pitchFamily="34" charset="0"/>
                <a:ea typeface="Cambria" pitchFamily="34" charset="-122"/>
                <a:cs typeface="Cambria" pitchFamily="34" charset="-120"/>
              </a:rPr>
              <a:t>Cara eksperimen</a:t>
            </a:r>
            <a:endParaRPr lang="en-US" sz="3000" dirty="0"/>
          </a:p>
        </p:txBody>
      </p:sp>
      <p:pic>
        <p:nvPicPr>
          <p:cNvPr id="3" name="diagram arsitektur" descr="Alur data: sumber, pengumpulan, penyimpanan, pengolahan, penyajian">    </p:cNvPr>
          <p:cNvPicPr>
            <a:picLocks noChangeAspect="1"/>
          </p:cNvPicPr>
          <p:nvPr/>
        </p:nvPicPr>
        <p:blipFill>
          <a:blip r:embed="rId1"/>
          <a:stretch>
            <a:fillRect/>
          </a:stretch>
        </p:blipFill>
        <p:spPr>
          <a:xfrm>
            <a:off x="457200" y="1051560"/>
            <a:ext cx="8229600" cy="1964978"/>
          </a:xfrm>
          <a:prstGeom prst="rect">
            <a:avLst/>
          </a:prstGeom>
        </p:spPr>
      </p:pic>
      <p:sp>
        <p:nvSpPr>
          <p:cNvPr id="4" name="kartu Google Colab"/>
          <p:cNvSpPr/>
          <p:nvPr/>
        </p:nvSpPr>
        <p:spPr>
          <a:xfrm>
            <a:off x="457200" y="3246120"/>
            <a:ext cx="2560320" cy="1280160"/>
          </a:xfrm>
          <a:prstGeom prst="roundRect">
            <a:avLst>
              <a:gd name="adj" fmla="val 8571"/>
            </a:avLst>
          </a:prstGeom>
          <a:solidFill>
            <a:schemeClr val="bg2"/>
          </a:solidFill>
          <a:ln/>
        </p:spPr>
      </p:sp>
      <p:sp>
        <p:nvSpPr>
          <p:cNvPr id="5" name="Google Colab lingkaran"/>
          <p:cNvSpPr/>
          <p:nvPr/>
        </p:nvSpPr>
        <p:spPr>
          <a:xfrm>
            <a:off x="640080" y="3401568"/>
            <a:ext cx="384048" cy="384048"/>
          </a:xfrm>
          <a:prstGeom prst="ellipse">
            <a:avLst/>
          </a:prstGeom>
          <a:solidFill>
            <a:schemeClr val="accent1"/>
          </a:solidFill>
          <a:ln/>
        </p:spPr>
      </p:sp>
      <p:sp>
        <p:nvSpPr>
          <p:cNvPr id="6" name="Google Colab nomor"/>
          <p:cNvSpPr txBox="1"/>
          <p:nvPr/>
        </p:nvSpPr>
        <p:spPr>
          <a:xfrm>
            <a:off x="640080" y="3401568"/>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judul Google Colab"/>
          <p:cNvSpPr txBox="1"/>
          <p:nvPr/>
        </p:nvSpPr>
        <p:spPr>
          <a:xfrm>
            <a:off x="1143000" y="3401568"/>
            <a:ext cx="1737360" cy="384048"/>
          </a:xfrm>
          <a:prstGeom prst="rect">
            <a:avLst/>
          </a:prstGeom>
          <a:noFill/>
          <a:ln/>
        </p:spPr>
        <p:txBody>
          <a:bodyPr wrap="square" lIns="0" tIns="0" rIns="0" bIns="0" rtlCol="0" anchor="ctr"/>
          <a:lstStyle/>
          <a:p>
            <a:pPr indent="0" marL="0">
              <a:buNone/>
            </a:pPr>
            <a:r>
              <a:rPr lang="en-US" sz="1600" b="1" dirty="0">
                <a:solidFill>
                  <a:schemeClr val="accent1"/>
                </a:solidFill>
              </a:rPr>
              <a:t>Google Colab</a:t>
            </a:r>
            <a:endParaRPr lang="en-US" sz="1600" dirty="0"/>
          </a:p>
        </p:txBody>
      </p:sp>
      <p:sp>
        <p:nvSpPr>
          <p:cNvPr id="8" name="isi Google Colab"/>
          <p:cNvSpPr txBox="1"/>
          <p:nvPr/>
        </p:nvSpPr>
        <p:spPr>
          <a:xfrm>
            <a:off x="640080" y="3858768"/>
            <a:ext cx="2240280" cy="594360"/>
          </a:xfrm>
          <a:prstGeom prst="rect">
            <a:avLst/>
          </a:prstGeom>
          <a:noFill/>
          <a:ln/>
        </p:spPr>
        <p:txBody>
          <a:bodyPr wrap="square" lIns="0" tIns="0" rIns="0" bIns="0" rtlCol="0" anchor="t"/>
          <a:lstStyle/>
          <a:p>
            <a:pPr indent="0" marL="0">
              <a:buNone/>
            </a:pPr>
            <a:r>
              <a:rPr lang="en-US" sz="1400" dirty="0">
                <a:solidFill>
                  <a:schemeClr val="tx1"/>
                </a:solidFill>
              </a:rPr>
              <a:t>Satu mesin: 2 inti CPU, RAM 12,7 GB</a:t>
            </a:r>
            <a:endParaRPr lang="en-US" sz="1400" dirty="0"/>
          </a:p>
        </p:txBody>
      </p:sp>
      <p:sp>
        <p:nvSpPr>
          <p:cNvPr id="9" name="kartu 2 skenario"/>
          <p:cNvSpPr/>
          <p:nvPr/>
        </p:nvSpPr>
        <p:spPr>
          <a:xfrm>
            <a:off x="3291840" y="3246120"/>
            <a:ext cx="2560320" cy="1280160"/>
          </a:xfrm>
          <a:prstGeom prst="roundRect">
            <a:avLst>
              <a:gd name="adj" fmla="val 8571"/>
            </a:avLst>
          </a:prstGeom>
          <a:solidFill>
            <a:schemeClr val="bg2"/>
          </a:solidFill>
          <a:ln/>
        </p:spPr>
      </p:sp>
      <p:sp>
        <p:nvSpPr>
          <p:cNvPr id="10" name="2 skenario lingkaran"/>
          <p:cNvSpPr/>
          <p:nvPr/>
        </p:nvSpPr>
        <p:spPr>
          <a:xfrm>
            <a:off x="3474720" y="3401568"/>
            <a:ext cx="384048" cy="384048"/>
          </a:xfrm>
          <a:prstGeom prst="ellipse">
            <a:avLst/>
          </a:prstGeom>
          <a:solidFill>
            <a:schemeClr val="accent1"/>
          </a:solidFill>
          <a:ln/>
        </p:spPr>
      </p:sp>
      <p:sp>
        <p:nvSpPr>
          <p:cNvPr id="11" name="2 skenario nomor"/>
          <p:cNvSpPr txBox="1"/>
          <p:nvPr/>
        </p:nvSpPr>
        <p:spPr>
          <a:xfrm>
            <a:off x="3474720" y="3401568"/>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judul 2 skenario"/>
          <p:cNvSpPr txBox="1"/>
          <p:nvPr/>
        </p:nvSpPr>
        <p:spPr>
          <a:xfrm>
            <a:off x="3977640" y="3401568"/>
            <a:ext cx="1737360" cy="384048"/>
          </a:xfrm>
          <a:prstGeom prst="rect">
            <a:avLst/>
          </a:prstGeom>
          <a:noFill/>
          <a:ln/>
        </p:spPr>
        <p:txBody>
          <a:bodyPr wrap="square" lIns="0" tIns="0" rIns="0" bIns="0" rtlCol="0" anchor="ctr"/>
          <a:lstStyle/>
          <a:p>
            <a:pPr indent="0" marL="0">
              <a:buNone/>
            </a:pPr>
            <a:r>
              <a:rPr lang="en-US" sz="1600" b="1" dirty="0">
                <a:solidFill>
                  <a:schemeClr val="accent1"/>
                </a:solidFill>
              </a:rPr>
              <a:t>2 skenario</a:t>
            </a:r>
            <a:endParaRPr lang="en-US" sz="1600" dirty="0"/>
          </a:p>
        </p:txBody>
      </p:sp>
      <p:sp>
        <p:nvSpPr>
          <p:cNvPr id="13" name="isi 2 skenario"/>
          <p:cNvSpPr txBox="1"/>
          <p:nvPr/>
        </p:nvSpPr>
        <p:spPr>
          <a:xfrm>
            <a:off x="3474720" y="3858768"/>
            <a:ext cx="2240280" cy="594360"/>
          </a:xfrm>
          <a:prstGeom prst="rect">
            <a:avLst/>
          </a:prstGeom>
          <a:noFill/>
          <a:ln/>
        </p:spPr>
        <p:txBody>
          <a:bodyPr wrap="square" lIns="0" tIns="0" rIns="0" bIns="0" rtlCol="0" anchor="t"/>
          <a:lstStyle/>
          <a:p>
            <a:pPr indent="0" marL="0">
              <a:buNone/>
            </a:pPr>
            <a:r>
              <a:rPr lang="en-US" sz="1400" dirty="0">
                <a:solidFill>
                  <a:schemeClr val="tx1"/>
                </a:solidFill>
              </a:rPr>
              <a:t>Per pertanyaan, dan tiga pertanyaan sekaligus</a:t>
            </a:r>
            <a:endParaRPr lang="en-US" sz="1400" dirty="0"/>
          </a:p>
        </p:txBody>
      </p:sp>
      <p:sp>
        <p:nvSpPr>
          <p:cNvPr id="14" name="kartu Diulang 3×"/>
          <p:cNvSpPr/>
          <p:nvPr/>
        </p:nvSpPr>
        <p:spPr>
          <a:xfrm>
            <a:off x="6126480" y="3246120"/>
            <a:ext cx="2560320" cy="1280160"/>
          </a:xfrm>
          <a:prstGeom prst="roundRect">
            <a:avLst>
              <a:gd name="adj" fmla="val 8571"/>
            </a:avLst>
          </a:prstGeom>
          <a:solidFill>
            <a:schemeClr val="bg2"/>
          </a:solidFill>
          <a:ln/>
        </p:spPr>
      </p:sp>
      <p:sp>
        <p:nvSpPr>
          <p:cNvPr id="15" name="Diulang 3× lingkaran"/>
          <p:cNvSpPr/>
          <p:nvPr/>
        </p:nvSpPr>
        <p:spPr>
          <a:xfrm>
            <a:off x="6309360" y="3401568"/>
            <a:ext cx="384048" cy="384048"/>
          </a:xfrm>
          <a:prstGeom prst="ellipse">
            <a:avLst/>
          </a:prstGeom>
          <a:solidFill>
            <a:schemeClr val="accent1"/>
          </a:solidFill>
          <a:ln/>
        </p:spPr>
      </p:sp>
      <p:sp>
        <p:nvSpPr>
          <p:cNvPr id="16" name="Diulang 3× nomor"/>
          <p:cNvSpPr txBox="1"/>
          <p:nvPr/>
        </p:nvSpPr>
        <p:spPr>
          <a:xfrm>
            <a:off x="6309360" y="3401568"/>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7" name="judul Diulang 3×"/>
          <p:cNvSpPr txBox="1"/>
          <p:nvPr/>
        </p:nvSpPr>
        <p:spPr>
          <a:xfrm>
            <a:off x="6812280" y="3401568"/>
            <a:ext cx="1737360" cy="384048"/>
          </a:xfrm>
          <a:prstGeom prst="rect">
            <a:avLst/>
          </a:prstGeom>
          <a:noFill/>
          <a:ln/>
        </p:spPr>
        <p:txBody>
          <a:bodyPr wrap="square" lIns="0" tIns="0" rIns="0" bIns="0" rtlCol="0" anchor="ctr"/>
          <a:lstStyle/>
          <a:p>
            <a:pPr indent="0" marL="0">
              <a:buNone/>
            </a:pPr>
            <a:r>
              <a:rPr lang="en-US" sz="1600" b="1" dirty="0">
                <a:solidFill>
                  <a:schemeClr val="accent1"/>
                </a:solidFill>
              </a:rPr>
              <a:t>Diulang 3×</a:t>
            </a:r>
            <a:endParaRPr lang="en-US" sz="1600" dirty="0"/>
          </a:p>
        </p:txBody>
      </p:sp>
      <p:sp>
        <p:nvSpPr>
          <p:cNvPr id="18" name="isi Diulang 3×"/>
          <p:cNvSpPr txBox="1"/>
          <p:nvPr/>
        </p:nvSpPr>
        <p:spPr>
          <a:xfrm>
            <a:off x="6309360" y="3858768"/>
            <a:ext cx="2240280" cy="594360"/>
          </a:xfrm>
          <a:prstGeom prst="rect">
            <a:avLst/>
          </a:prstGeom>
          <a:noFill/>
          <a:ln/>
        </p:spPr>
        <p:txBody>
          <a:bodyPr wrap="square" lIns="0" tIns="0" rIns="0" bIns="0" rtlCol="0" anchor="t"/>
          <a:lstStyle/>
          <a:p>
            <a:pPr indent="0" marL="0">
              <a:buNone/>
            </a:pPr>
            <a:r>
              <a:rPr lang="en-US" sz="1400" dirty="0">
                <a:solidFill>
                  <a:schemeClr val="tx1"/>
                </a:solidFill>
              </a:rPr>
              <a:t>Ukur waktu, CPU, RAM, setelah 1× pemanasan</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accent1"/>
                </a:solidFill>
                <a:latin typeface="Cambria" pitchFamily="34" charset="0"/>
                <a:ea typeface="Cambria" pitchFamily="34" charset="-122"/>
                <a:cs typeface="Cambria" pitchFamily="34" charset="-120"/>
              </a:rPr>
              <a:t>Keempat cara: jawaban identik</a:t>
            </a:r>
            <a:endParaRPr lang="en-US" sz="3000" dirty="0"/>
          </a:p>
        </p:txBody>
      </p:sp>
      <p:graphicFrame>
        <p:nvGraphicFramePr>
          <p:cNvPr id="5" name="tabel validasi"/>
          <p:cNvGraphicFramePr>
            <a:graphicFrameLocks noGrp="1"/>
          </p:cNvGraphicFramePr>
          <p:nvPr>
            <p:extLst>
              <p:ext uri="{D42A27DB-BD31-4B8C-83A1-F6EECF244321}">
                <p14:modId xmlns:p14="http://schemas.microsoft.com/office/powerpoint/2010/main" val="1579011935"/>
              </p:ext>
            </p:extLst>
          </p:nvPr>
        </p:nvGraphicFramePr>
        <p:xfrm>
          <a:off x="457200" y="1188720"/>
          <a:ext cx="5669280" cy="914400"/>
        </p:xfrm>
        <a:graphic>
          <a:graphicData uri="http://schemas.openxmlformats.org/drawingml/2006/table">
            <a:tbl>
              <a:tblPr/>
              <a:tblGrid>
                <a:gridCol w="1280160"/>
                <a:gridCol w="868680"/>
                <a:gridCol w="1097280"/>
                <a:gridCol w="548640"/>
                <a:gridCol w="731520"/>
                <a:gridCol w="548640"/>
                <a:gridCol w="548640"/>
              </a:tblGrid>
              <a:tr h="457200">
                <a:tc>
                  <a:txBody>
                    <a:bodyPr/>
                    <a:lstStyle/>
                    <a:p>
                      <a:pPr algn="ctr" indent="0" marL="0">
                        <a:buNone/>
                      </a:pPr>
                      <a:r>
                        <a:rPr lang="en-US" sz="1200" b="1" dirty="0">
                          <a:solidFill>
                            <a:schemeClr val="bg1"/>
                          </a:solidFill>
                        </a:rPr>
                        <a:t>Pertanyaan</a:t>
                      </a:r>
                      <a:endParaRPr lang="en-US" sz="1200" dirty="0"/>
                    </a:p>
                  </a:txBody>
                  <a:tcPr marL="91440" marR="91440" marT="45720" marB="45720" anchor="ctr">
                    <a:lnL w="9525" cap="flat" cmpd="sng" algn="ctr">
                      <a:solidFill>
                        <a:srgbClr val="C9C4CE"/>
                      </a:solidFill>
                      <a:prstDash val="solid"/>
                      <a:round/>
                      <a:headEnd type="none" w="med" len="med"/>
                      <a:tailEnd type="none" w="med" len="med"/>
                    </a:lnL>
                    <a:lnR w="9525" cap="flat" cmpd="sng" algn="ctr">
                      <a:solidFill>
                        <a:srgbClr val="C9C4CE"/>
                      </a:solidFill>
                      <a:prstDash val="solid"/>
                      <a:round/>
                      <a:headEnd type="none" w="med" len="med"/>
                      <a:tailEnd type="none" w="med" len="med"/>
                    </a:lnR>
                    <a:lnT w="9525" cap="flat" cmpd="sng" algn="ctr">
                      <a:solidFill>
                        <a:srgbClr val="C9C4CE"/>
                      </a:solidFill>
                      <a:prstDash val="solid"/>
                      <a:round/>
                      <a:headEnd type="none" w="med" len="med"/>
                      <a:tailEnd type="none" w="med" len="med"/>
                    </a:lnT>
                    <a:lnB w="9525" cap="flat" cmpd="sng" algn="ctr">
                      <a:solidFill>
                        <a:srgbClr val="C9C4CE"/>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bg1"/>
                          </a:solidFill>
                        </a:rPr>
                        <a:t>Baris</a:t>
                      </a:r>
                      <a:endParaRPr lang="en-US" sz="1200" dirty="0"/>
                    </a:p>
                  </a:txBody>
                  <a:tcPr marL="91440" marR="91440" marT="45720" marB="45720" anchor="ctr">
                    <a:lnL w="9525" cap="flat" cmpd="sng" algn="ctr">
                      <a:solidFill>
                        <a:srgbClr val="C9C4CE"/>
                      </a:solidFill>
                      <a:prstDash val="solid"/>
                      <a:round/>
                      <a:headEnd type="none" w="med" len="med"/>
                      <a:tailEnd type="none" w="med" len="med"/>
                    </a:lnL>
                    <a:lnR w="9525" cap="flat" cmpd="sng" algn="ctr">
                      <a:solidFill>
                        <a:srgbClr val="C9C4CE"/>
                      </a:solidFill>
                      <a:prstDash val="solid"/>
                      <a:round/>
                      <a:headEnd type="none" w="med" len="med"/>
                      <a:tailEnd type="none" w="med" len="med"/>
                    </a:lnR>
                    <a:lnT w="9525" cap="flat" cmpd="sng" algn="ctr">
                      <a:solidFill>
                        <a:srgbClr val="C9C4CE"/>
                      </a:solidFill>
                      <a:prstDash val="solid"/>
                      <a:round/>
                      <a:headEnd type="none" w="med" len="med"/>
                      <a:tailEnd type="none" w="med" len="med"/>
                    </a:lnT>
                    <a:lnB w="9525" cap="flat" cmpd="sng" algn="ctr">
                      <a:solidFill>
                        <a:srgbClr val="C9C4CE"/>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bg1"/>
                          </a:solidFill>
                        </a:rPr>
                        <a:t>Total</a:t>
                      </a:r>
                      <a:endParaRPr lang="en-US" sz="1200" dirty="0"/>
                    </a:p>
                  </a:txBody>
                  <a:tcPr marL="91440" marR="91440" marT="45720" marB="45720" anchor="ctr">
                    <a:lnL w="9525" cap="flat" cmpd="sng" algn="ctr">
                      <a:solidFill>
                        <a:srgbClr val="C9C4CE"/>
                      </a:solidFill>
                      <a:prstDash val="solid"/>
                      <a:round/>
                      <a:headEnd type="none" w="med" len="med"/>
                      <a:tailEnd type="none" w="med" len="med"/>
                    </a:lnL>
                    <a:lnR w="9525" cap="flat" cmpd="sng" algn="ctr">
                      <a:solidFill>
                        <a:srgbClr val="C9C4CE"/>
                      </a:solidFill>
                      <a:prstDash val="solid"/>
                      <a:round/>
                      <a:headEnd type="none" w="med" len="med"/>
                      <a:tailEnd type="none" w="med" len="med"/>
                    </a:lnR>
                    <a:lnT w="9525" cap="flat" cmpd="sng" algn="ctr">
                      <a:solidFill>
                        <a:srgbClr val="C9C4CE"/>
                      </a:solidFill>
                      <a:prstDash val="solid"/>
                      <a:round/>
                      <a:headEnd type="none" w="med" len="med"/>
                      <a:tailEnd type="none" w="med" len="med"/>
                    </a:lnT>
                    <a:lnB w="9525" cap="flat" cmpd="sng" algn="ctr">
                      <a:solidFill>
                        <a:srgbClr val="C9C4CE"/>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tx1"/>
                          </a:solidFill>
                        </a:rPr>
                        <a:t>MR</a:t>
                      </a:r>
                      <a:endParaRPr lang="en-US" sz="1200" dirty="0"/>
                    </a:p>
                  </a:txBody>
                  <a:tcPr marL="91440" marR="91440" marT="45720" marB="45720" anchor="ctr">
                    <a:lnL w="9525" cap="flat" cmpd="sng" algn="ctr">
                      <a:solidFill>
                        <a:srgbClr val="C9C4CE"/>
                      </a:solidFill>
                      <a:prstDash val="solid"/>
                      <a:round/>
                      <a:headEnd type="none" w="med" len="med"/>
                      <a:tailEnd type="none" w="med" len="med"/>
                    </a:lnL>
                    <a:lnR w="9525" cap="flat" cmpd="sng" algn="ctr">
                      <a:solidFill>
                        <a:srgbClr val="C9C4CE"/>
                      </a:solidFill>
                      <a:prstDash val="solid"/>
                      <a:round/>
                      <a:headEnd type="none" w="med" len="med"/>
                      <a:tailEnd type="none" w="med" len="med"/>
                    </a:lnR>
                    <a:lnT w="9525" cap="flat" cmpd="sng" algn="ctr">
                      <a:solidFill>
                        <a:srgbClr val="C9C4CE"/>
                      </a:solidFill>
                      <a:prstDash val="solid"/>
                      <a:round/>
                      <a:headEnd type="none" w="med" len="med"/>
                      <a:tailEnd type="none" w="med" len="med"/>
                    </a:lnT>
                    <a:lnB w="9525" cap="flat" cmpd="sng" algn="ctr">
                      <a:solidFill>
                        <a:srgbClr val="C9C4CE"/>
                      </a:solidFill>
                      <a:prstDash val="solid"/>
                      <a:round/>
                      <a:headEnd type="none" w="med" len="med"/>
                      <a:tailEnd type="none" w="med" len="med"/>
                    </a:lnB>
                    <a:solidFill>
                      <a:srgbClr val="9C95A3"/>
                    </a:solidFill>
                  </a:tcPr>
                </a:tc>
                <a:tc>
                  <a:txBody>
                    <a:bodyPr/>
                    <a:lstStyle/>
                    <a:p>
                      <a:pPr algn="ctr" indent="0" marL="0">
                        <a:buNone/>
                      </a:pPr>
                      <a:r>
                        <a:rPr lang="en-US" sz="1200" b="1" dirty="0">
                          <a:solidFill>
                            <a:schemeClr val="tx1"/>
                          </a:solidFill>
                        </a:rPr>
                        <a:t>MR+C</a:t>
                      </a:r>
                      <a:endParaRPr lang="en-US" sz="1200" dirty="0"/>
                    </a:p>
                  </a:txBody>
                  <a:tcPr marL="91440" marR="91440" marT="45720" marB="45720" anchor="ctr">
                    <a:lnL w="9525" cap="flat" cmpd="sng" algn="ctr">
                      <a:solidFill>
                        <a:srgbClr val="C9C4CE"/>
                      </a:solidFill>
                      <a:prstDash val="solid"/>
                      <a:round/>
                      <a:headEnd type="none" w="med" len="med"/>
                      <a:tailEnd type="none" w="med" len="med"/>
                    </a:lnL>
                    <a:lnR w="9525" cap="flat" cmpd="sng" algn="ctr">
                      <a:solidFill>
                        <a:srgbClr val="C9C4CE"/>
                      </a:solidFill>
                      <a:prstDash val="solid"/>
                      <a:round/>
                      <a:headEnd type="none" w="med" len="med"/>
                      <a:tailEnd type="none" w="med" len="med"/>
                    </a:lnR>
                    <a:lnT w="9525" cap="flat" cmpd="sng" algn="ctr">
                      <a:solidFill>
                        <a:srgbClr val="C9C4CE"/>
                      </a:solidFill>
                      <a:prstDash val="solid"/>
                      <a:round/>
                      <a:headEnd type="none" w="med" len="med"/>
                      <a:tailEnd type="none" w="med" len="med"/>
                    </a:lnT>
                    <a:lnB w="9525" cap="flat" cmpd="sng" algn="ctr">
                      <a:solidFill>
                        <a:srgbClr val="C9C4CE"/>
                      </a:solidFill>
                      <a:prstDash val="solid"/>
                      <a:round/>
                      <a:headEnd type="none" w="med" len="med"/>
                      <a:tailEnd type="none" w="med" len="med"/>
                    </a:lnB>
                    <a:solidFill>
                      <a:srgbClr val="C9C4CE"/>
                    </a:solidFill>
                  </a:tcPr>
                </a:tc>
                <a:tc>
                  <a:txBody>
                    <a:bodyPr/>
                    <a:lstStyle/>
                    <a:p>
                      <a:pPr algn="ctr" indent="0" marL="0">
                        <a:buNone/>
                      </a:pPr>
                      <a:r>
                        <a:rPr lang="en-US" sz="1200" b="1" dirty="0">
                          <a:solidFill>
                            <a:schemeClr val="bg1"/>
                          </a:solidFill>
                        </a:rPr>
                        <a:t>RDD</a:t>
                      </a:r>
                      <a:endParaRPr lang="en-US" sz="1200" dirty="0"/>
                    </a:p>
                  </a:txBody>
                  <a:tcPr marL="91440" marR="91440" marT="45720" marB="45720" anchor="ctr">
                    <a:lnL w="9525" cap="flat" cmpd="sng" algn="ctr">
                      <a:solidFill>
                        <a:srgbClr val="C9C4CE"/>
                      </a:solidFill>
                      <a:prstDash val="solid"/>
                      <a:round/>
                      <a:headEnd type="none" w="med" len="med"/>
                      <a:tailEnd type="none" w="med" len="med"/>
                    </a:lnL>
                    <a:lnR w="9525" cap="flat" cmpd="sng" algn="ctr">
                      <a:solidFill>
                        <a:srgbClr val="C9C4CE"/>
                      </a:solidFill>
                      <a:prstDash val="solid"/>
                      <a:round/>
                      <a:headEnd type="none" w="med" len="med"/>
                      <a:tailEnd type="none" w="med" len="med"/>
                    </a:lnR>
                    <a:lnT w="9525" cap="flat" cmpd="sng" algn="ctr">
                      <a:solidFill>
                        <a:srgbClr val="C9C4CE"/>
                      </a:solidFill>
                      <a:prstDash val="solid"/>
                      <a:round/>
                      <a:headEnd type="none" w="med" len="med"/>
                      <a:tailEnd type="none" w="med" len="med"/>
                    </a:lnT>
                    <a:lnB w="9525" cap="flat" cmpd="sng" algn="ctr">
                      <a:solidFill>
                        <a:srgbClr val="C9C4CE"/>
                      </a:solidFill>
                      <a:prstDash val="solid"/>
                      <a:round/>
                      <a:headEnd type="none" w="med" len="med"/>
                      <a:tailEnd type="none" w="med" len="med"/>
                    </a:lnB>
                    <a:solidFill>
                      <a:srgbClr val="F7931E"/>
                    </a:solidFill>
                  </a:tcPr>
                </a:tc>
                <a:tc>
                  <a:txBody>
                    <a:bodyPr/>
                    <a:lstStyle/>
                    <a:p>
                      <a:pPr algn="ctr" indent="0" marL="0">
                        <a:buNone/>
                      </a:pPr>
                      <a:r>
                        <a:rPr lang="en-US" sz="1200" b="1" dirty="0">
                          <a:solidFill>
                            <a:schemeClr val="bg1"/>
                          </a:solidFill>
                        </a:rPr>
                        <a:t>DF</a:t>
                      </a:r>
                      <a:endParaRPr lang="en-US" sz="1200" dirty="0"/>
                    </a:p>
                  </a:txBody>
                  <a:tcPr marL="91440" marR="91440" marT="45720" marB="45720" anchor="ctr">
                    <a:lnL w="9525" cap="flat" cmpd="sng" algn="ctr">
                      <a:solidFill>
                        <a:srgbClr val="C9C4CE"/>
                      </a:solidFill>
                      <a:prstDash val="solid"/>
                      <a:round/>
                      <a:headEnd type="none" w="med" len="med"/>
                      <a:tailEnd type="none" w="med" len="med"/>
                    </a:lnL>
                    <a:lnR w="9525" cap="flat" cmpd="sng" algn="ctr">
                      <a:solidFill>
                        <a:srgbClr val="C9C4CE"/>
                      </a:solidFill>
                      <a:prstDash val="solid"/>
                      <a:round/>
                      <a:headEnd type="none" w="med" len="med"/>
                      <a:tailEnd type="none" w="med" len="med"/>
                    </a:lnR>
                    <a:lnT w="9525" cap="flat" cmpd="sng" algn="ctr">
                      <a:solidFill>
                        <a:srgbClr val="C9C4CE"/>
                      </a:solidFill>
                      <a:prstDash val="solid"/>
                      <a:round/>
                      <a:headEnd type="none" w="med" len="med"/>
                      <a:tailEnd type="none" w="med" len="med"/>
                    </a:lnT>
                    <a:lnB w="9525" cap="flat" cmpd="sng" algn="ctr">
                      <a:solidFill>
                        <a:srgbClr val="C9C4CE"/>
                      </a:solidFill>
                      <a:prstDash val="solid"/>
                      <a:round/>
                      <a:headEnd type="none" w="med" len="med"/>
                      <a:tailEnd type="none" w="med" len="med"/>
                    </a:lnB>
                    <a:solidFill>
                      <a:schemeClr val="accent1"/>
                    </a:solidFill>
                  </a:tcPr>
                </a:tc>
              </a:tr>
              <a:tr h="457200">
                <a:tc>
                  <a:txBody>
                    <a:bodyPr/>
                    <a:lstStyle/>
                    <a:p>
                      <a:pPr algn="l" indent="0" marL="0">
                        <a:buNone/>
                      </a:pPr>
                      <a:r>
                        <a:rPr lang="en-US" sz="1400" dirty="0">
                          <a:solidFill>
                            <a:schemeClr val="tx1"/>
                          </a:solidFill>
                        </a:rPr>
                        <a:t>host</a:t>
                      </a:r>
                      <a:endParaRPr lang="en-US" sz="1400" dirty="0"/>
                    </a:p>
                  </a:txBody>
                  <a:tcPr marL="91440" marR="91440" marT="45720" marB="45720" anchor="ctr">
                    <a:lnL w="9525" cap="flat" cmpd="sng" algn="ctr">
                      <a:solidFill>
                        <a:srgbClr val="C9C4CE"/>
                      </a:solidFill>
                      <a:prstDash val="solid"/>
                      <a:round/>
                      <a:headEnd type="none" w="med" len="med"/>
                      <a:tailEnd type="none" w="med" len="med"/>
                    </a:lnL>
                    <a:lnR w="9525" cap="flat" cmpd="sng" algn="ctr">
                      <a:solidFill>
                        <a:srgbClr val="C9C4CE"/>
                      </a:solidFill>
                      <a:prstDash val="solid"/>
                      <a:round/>
                      <a:headEnd type="none" w="med" len="med"/>
                      <a:tailEnd type="none" w="med" len="med"/>
                    </a:lnR>
                    <a:lnT w="9525" cap="flat" cmpd="sng" algn="ctr">
                      <a:solidFill>
                        <a:srgbClr val="C9C4CE"/>
                      </a:solidFill>
                      <a:prstDash val="solid"/>
                      <a:round/>
                      <a:headEnd type="none" w="med" len="med"/>
                      <a:tailEnd type="none" w="med" len="med"/>
                    </a:lnT>
                    <a:lnB w="9525" cap="flat" cmpd="sng" algn="ctr">
                      <a:solidFill>
                        <a:srgbClr val="C9C4CE"/>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137.978</a:t>
                      </a:r>
                      <a:endParaRPr lang="en-US" sz="1400" dirty="0"/>
                    </a:p>
                  </a:txBody>
                  <a:tcPr marL="91440" marR="91440" marT="45720" marB="45720" anchor="ctr">
                    <a:lnL w="9525" cap="flat" cmpd="sng" algn="ctr">
                      <a:solidFill>
                        <a:srgbClr val="C9C4CE"/>
                      </a:solidFill>
                      <a:prstDash val="solid"/>
                      <a:round/>
                      <a:headEnd type="none" w="med" len="med"/>
                      <a:tailEnd type="none" w="med" len="med"/>
                    </a:lnL>
                    <a:lnR w="9525" cap="flat" cmpd="sng" algn="ctr">
                      <a:solidFill>
                        <a:srgbClr val="C9C4CE"/>
                      </a:solidFill>
                      <a:prstDash val="solid"/>
                      <a:round/>
                      <a:headEnd type="none" w="med" len="med"/>
                      <a:tailEnd type="none" w="med" len="med"/>
                    </a:lnR>
                    <a:lnT w="9525" cap="flat" cmpd="sng" algn="ctr">
                      <a:solidFill>
                        <a:srgbClr val="C9C4CE"/>
                      </a:solidFill>
                      <a:prstDash val="solid"/>
                      <a:round/>
                      <a:headEnd type="none" w="med" len="med"/>
                      <a:tailEnd type="none" w="med" len="med"/>
                    </a:lnT>
                    <a:lnB w="9525" cap="flat" cmpd="sng" algn="ctr">
                      <a:solidFill>
                        <a:srgbClr val="C9C4CE"/>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3.461.612</a:t>
                      </a:r>
                      <a:endParaRPr lang="en-US" sz="1400" dirty="0"/>
                    </a:p>
                  </a:txBody>
                  <a:tcPr marL="91440" marR="91440" marT="45720" marB="45720" anchor="ctr">
                    <a:lnL w="9525" cap="flat" cmpd="sng" algn="ctr">
                      <a:solidFill>
                        <a:srgbClr val="C9C4CE"/>
                      </a:solidFill>
                      <a:prstDash val="solid"/>
                      <a:round/>
                      <a:headEnd type="none" w="med" len="med"/>
                      <a:tailEnd type="none" w="med" len="med"/>
                    </a:lnL>
                    <a:lnR w="9525" cap="flat" cmpd="sng" algn="ctr">
                      <a:solidFill>
                        <a:srgbClr val="C9C4CE"/>
                      </a:solidFill>
                      <a:prstDash val="solid"/>
                      <a:round/>
                      <a:headEnd type="none" w="med" len="med"/>
                      <a:tailEnd type="none" w="med" len="med"/>
                    </a:lnR>
                    <a:lnT w="9525" cap="flat" cmpd="sng" algn="ctr">
                      <a:solidFill>
                        <a:srgbClr val="C9C4CE"/>
                      </a:solidFill>
                      <a:prstDash val="solid"/>
                      <a:round/>
                      <a:headEnd type="none" w="med" len="med"/>
                      <a:tailEnd type="none" w="med" len="med"/>
                    </a:lnT>
                    <a:lnB w="9525" cap="flat" cmpd="sng" algn="ctr">
                      <a:solidFill>
                        <a:srgbClr val="C9C4CE"/>
                      </a:solidFill>
                      <a:prstDash val="solid"/>
                      <a:round/>
                      <a:headEnd type="none" w="med" len="med"/>
                      <a:tailEnd type="none" w="med" len="med"/>
                    </a:lnB>
                    <a:solidFill>
                      <a:schemeClr val="bg1"/>
                    </a:solidFill>
                  </a:tcPr>
                </a:tc>
                <a:tc>
                  <a:txBody>
                    <a:bodyPr/>
                    <a:lstStyle/>
                    <a:p>
                      <a:pPr algn="ctr" indent="0" marL="0">
                        <a:buNone/>
                      </a:pPr>
                      <a:r>
                        <a:rPr lang="en-US" sz="1800" b="1" dirty="0">
                          <a:solidFill>
                            <a:schemeClr val="accent1"/>
                          </a:solidFill>
                        </a:rPr>
                        <a:t>✓</a:t>
                      </a:r>
                      <a:endParaRPr lang="en-US" sz="1800" dirty="0"/>
                    </a:p>
                  </a:txBody>
                  <a:tcPr marL="91440" marR="91440" marT="45720" marB="45720" anchor="ctr">
                    <a:lnL w="9525" cap="flat" cmpd="sng" algn="ctr">
                      <a:solidFill>
                        <a:srgbClr val="C9C4CE"/>
                      </a:solidFill>
                      <a:prstDash val="solid"/>
                      <a:round/>
                      <a:headEnd type="none" w="med" len="med"/>
                      <a:tailEnd type="none" w="med" len="med"/>
                    </a:lnL>
                    <a:lnR w="9525" cap="flat" cmpd="sng" algn="ctr">
                      <a:solidFill>
                        <a:srgbClr val="C9C4CE"/>
                      </a:solidFill>
                      <a:prstDash val="solid"/>
                      <a:round/>
                      <a:headEnd type="none" w="med" len="med"/>
                      <a:tailEnd type="none" w="med" len="med"/>
                    </a:lnR>
                    <a:lnT w="9525" cap="flat" cmpd="sng" algn="ctr">
                      <a:solidFill>
                        <a:srgbClr val="C9C4CE"/>
                      </a:solidFill>
                      <a:prstDash val="solid"/>
                      <a:round/>
                      <a:headEnd type="none" w="med" len="med"/>
                      <a:tailEnd type="none" w="med" len="med"/>
                    </a:lnT>
                    <a:lnB w="9525" cap="flat" cmpd="sng" algn="ctr">
                      <a:solidFill>
                        <a:srgbClr val="C9C4CE"/>
                      </a:solidFill>
                      <a:prstDash val="solid"/>
                      <a:round/>
                      <a:headEnd type="none" w="med" len="med"/>
                      <a:tailEnd type="none" w="med" len="med"/>
                    </a:lnB>
                    <a:solidFill>
                      <a:schemeClr val="bg1"/>
                    </a:solidFill>
                  </a:tcPr>
                </a:tc>
                <a:tc>
                  <a:txBody>
                    <a:bodyPr/>
                    <a:lstStyle/>
                    <a:p>
                      <a:pPr algn="ctr" indent="0" marL="0">
                        <a:buNone/>
                      </a:pPr>
                      <a:r>
                        <a:rPr lang="en-US" sz="1800" b="1" dirty="0">
                          <a:solidFill>
                            <a:schemeClr val="accent1"/>
                          </a:solidFill>
                        </a:rPr>
                        <a:t>✓</a:t>
                      </a:r>
                      <a:endParaRPr lang="en-US" sz="1800" dirty="0"/>
                    </a:p>
                  </a:txBody>
                  <a:tcPr marL="91440" marR="91440" marT="45720" marB="45720" anchor="ctr">
                    <a:lnL w="9525" cap="flat" cmpd="sng" algn="ctr">
                      <a:solidFill>
                        <a:srgbClr val="C9C4CE"/>
                      </a:solidFill>
                      <a:prstDash val="solid"/>
                      <a:round/>
                      <a:headEnd type="none" w="med" len="med"/>
                      <a:tailEnd type="none" w="med" len="med"/>
                    </a:lnL>
                    <a:lnR w="9525" cap="flat" cmpd="sng" algn="ctr">
                      <a:solidFill>
                        <a:srgbClr val="C9C4CE"/>
                      </a:solidFill>
                      <a:prstDash val="solid"/>
                      <a:round/>
                      <a:headEnd type="none" w="med" len="med"/>
                      <a:tailEnd type="none" w="med" len="med"/>
                    </a:lnR>
                    <a:lnT w="9525" cap="flat" cmpd="sng" algn="ctr">
                      <a:solidFill>
                        <a:srgbClr val="C9C4CE"/>
                      </a:solidFill>
                      <a:prstDash val="solid"/>
                      <a:round/>
                      <a:headEnd type="none" w="med" len="med"/>
                      <a:tailEnd type="none" w="med" len="med"/>
                    </a:lnT>
                    <a:lnB w="9525" cap="flat" cmpd="sng" algn="ctr">
                      <a:solidFill>
                        <a:srgbClr val="C9C4CE"/>
                      </a:solidFill>
                      <a:prstDash val="solid"/>
                      <a:round/>
                      <a:headEnd type="none" w="med" len="med"/>
                      <a:tailEnd type="none" w="med" len="med"/>
                    </a:lnB>
                    <a:solidFill>
                      <a:schemeClr val="bg1"/>
                    </a:solidFill>
                  </a:tcPr>
                </a:tc>
                <a:tc>
                  <a:txBody>
                    <a:bodyPr/>
                    <a:lstStyle/>
                    <a:p>
                      <a:pPr algn="ctr" indent="0" marL="0">
                        <a:buNone/>
                      </a:pPr>
                      <a:r>
                        <a:rPr lang="en-US" sz="1800" b="1" dirty="0">
                          <a:solidFill>
                            <a:schemeClr val="accent1"/>
                          </a:solidFill>
                        </a:rPr>
                        <a:t>✓</a:t>
                      </a:r>
                      <a:endParaRPr lang="en-US" sz="1800" dirty="0"/>
                    </a:p>
                  </a:txBody>
                  <a:tcPr marL="91440" marR="91440" marT="45720" marB="45720" anchor="ctr">
                    <a:lnL w="9525" cap="flat" cmpd="sng" algn="ctr">
                      <a:solidFill>
                        <a:srgbClr val="C9C4CE"/>
                      </a:solidFill>
                      <a:prstDash val="solid"/>
                      <a:round/>
                      <a:headEnd type="none" w="med" len="med"/>
                      <a:tailEnd type="none" w="med" len="med"/>
                    </a:lnL>
                    <a:lnR w="9525" cap="flat" cmpd="sng" algn="ctr">
                      <a:solidFill>
                        <a:srgbClr val="C9C4CE"/>
                      </a:solidFill>
                      <a:prstDash val="solid"/>
                      <a:round/>
                      <a:headEnd type="none" w="med" len="med"/>
                      <a:tailEnd type="none" w="med" len="med"/>
                    </a:lnR>
                    <a:lnT w="9525" cap="flat" cmpd="sng" algn="ctr">
                      <a:solidFill>
                        <a:srgbClr val="C9C4CE"/>
                      </a:solidFill>
                      <a:prstDash val="solid"/>
                      <a:round/>
                      <a:headEnd type="none" w="med" len="med"/>
                      <a:tailEnd type="none" w="med" len="med"/>
                    </a:lnT>
                    <a:lnB w="9525" cap="flat" cmpd="sng" algn="ctr">
                      <a:solidFill>
                        <a:srgbClr val="C9C4CE"/>
                      </a:solidFill>
                      <a:prstDash val="solid"/>
                      <a:round/>
                      <a:headEnd type="none" w="med" len="med"/>
                      <a:tailEnd type="none" w="med" len="med"/>
                    </a:lnB>
                    <a:solidFill>
                      <a:schemeClr val="bg1"/>
                    </a:solidFill>
                  </a:tcPr>
                </a:tc>
                <a:tc>
                  <a:txBody>
                    <a:bodyPr/>
                    <a:lstStyle/>
                    <a:p>
                      <a:pPr algn="ctr" indent="0" marL="0">
                        <a:buNone/>
                      </a:pPr>
                      <a:r>
                        <a:rPr lang="en-US" sz="1800" b="1" dirty="0">
                          <a:solidFill>
                            <a:schemeClr val="accent1"/>
                          </a:solidFill>
                        </a:rPr>
                        <a:t>✓</a:t>
                      </a:r>
                      <a:endParaRPr lang="en-US" sz="1800" dirty="0"/>
                    </a:p>
                  </a:txBody>
                  <a:tcPr marL="91440" marR="91440" marT="45720" marB="45720" anchor="ctr">
                    <a:lnL w="9525" cap="flat" cmpd="sng" algn="ctr">
                      <a:solidFill>
                        <a:srgbClr val="C9C4CE"/>
                      </a:solidFill>
                      <a:prstDash val="solid"/>
                      <a:round/>
                      <a:headEnd type="none" w="med" len="med"/>
                      <a:tailEnd type="none" w="med" len="med"/>
                    </a:lnL>
                    <a:lnR w="9525" cap="flat" cmpd="sng" algn="ctr">
                      <a:solidFill>
                        <a:srgbClr val="C9C4CE"/>
                      </a:solidFill>
                      <a:prstDash val="solid"/>
                      <a:round/>
                      <a:headEnd type="none" w="med" len="med"/>
                      <a:tailEnd type="none" w="med" len="med"/>
                    </a:lnR>
                    <a:lnT w="9525" cap="flat" cmpd="sng" algn="ctr">
                      <a:solidFill>
                        <a:srgbClr val="C9C4CE"/>
                      </a:solidFill>
                      <a:prstDash val="solid"/>
                      <a:round/>
                      <a:headEnd type="none" w="med" len="med"/>
                      <a:tailEnd type="none" w="med" len="med"/>
                    </a:lnT>
                    <a:lnB w="9525" cap="flat" cmpd="sng" algn="ctr">
                      <a:solidFill>
                        <a:srgbClr val="C9C4CE"/>
                      </a:solidFill>
                      <a:prstDash val="solid"/>
                      <a:round/>
                      <a:headEnd type="none" w="med" len="med"/>
                      <a:tailEnd type="none" w="med" len="med"/>
                    </a:lnB>
                    <a:solidFill>
                      <a:schemeClr val="bg1"/>
                    </a:solidFill>
                  </a:tcPr>
                </a:tc>
              </a:tr>
              <a:tr h="457200">
                <a:tc>
                  <a:txBody>
                    <a:bodyPr/>
                    <a:lstStyle/>
                    <a:p>
                      <a:pPr algn="l" indent="0" marL="0">
                        <a:buNone/>
                      </a:pPr>
                      <a:r>
                        <a:rPr lang="en-US" sz="1400" dirty="0">
                          <a:solidFill>
                            <a:schemeClr val="tx1"/>
                          </a:solidFill>
                        </a:rPr>
                        <a:t>status</a:t>
                      </a:r>
                      <a:endParaRPr lang="en-US" sz="1400" dirty="0"/>
                    </a:p>
                  </a:txBody>
                  <a:tcPr marL="91440" marR="91440" marT="45720" marB="45720" anchor="ctr">
                    <a:lnL w="9525" cap="flat" cmpd="sng" algn="ctr">
                      <a:solidFill>
                        <a:srgbClr val="C9C4CE"/>
                      </a:solidFill>
                      <a:prstDash val="solid"/>
                      <a:round/>
                      <a:headEnd type="none" w="med" len="med"/>
                      <a:tailEnd type="none" w="med" len="med"/>
                    </a:lnL>
                    <a:lnR w="9525" cap="flat" cmpd="sng" algn="ctr">
                      <a:solidFill>
                        <a:srgbClr val="C9C4CE"/>
                      </a:solidFill>
                      <a:prstDash val="solid"/>
                      <a:round/>
                      <a:headEnd type="none" w="med" len="med"/>
                      <a:tailEnd type="none" w="med" len="med"/>
                    </a:lnR>
                    <a:lnT w="9525" cap="flat" cmpd="sng" algn="ctr">
                      <a:solidFill>
                        <a:srgbClr val="C9C4CE"/>
                      </a:solidFill>
                      <a:prstDash val="solid"/>
                      <a:round/>
                      <a:headEnd type="none" w="med" len="med"/>
                      <a:tailEnd type="none" w="med" len="med"/>
                    </a:lnT>
                    <a:lnB w="9525" cap="flat" cmpd="sng" algn="ctr">
                      <a:solidFill>
                        <a:srgbClr val="C9C4CE"/>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8</a:t>
                      </a:r>
                      <a:endParaRPr lang="en-US" sz="1400" dirty="0"/>
                    </a:p>
                  </a:txBody>
                  <a:tcPr marL="91440" marR="91440" marT="45720" marB="45720" anchor="ctr">
                    <a:lnL w="9525" cap="flat" cmpd="sng" algn="ctr">
                      <a:solidFill>
                        <a:srgbClr val="C9C4CE"/>
                      </a:solidFill>
                      <a:prstDash val="solid"/>
                      <a:round/>
                      <a:headEnd type="none" w="med" len="med"/>
                      <a:tailEnd type="none" w="med" len="med"/>
                    </a:lnL>
                    <a:lnR w="9525" cap="flat" cmpd="sng" algn="ctr">
                      <a:solidFill>
                        <a:srgbClr val="C9C4CE"/>
                      </a:solidFill>
                      <a:prstDash val="solid"/>
                      <a:round/>
                      <a:headEnd type="none" w="med" len="med"/>
                      <a:tailEnd type="none" w="med" len="med"/>
                    </a:lnR>
                    <a:lnT w="9525" cap="flat" cmpd="sng" algn="ctr">
                      <a:solidFill>
                        <a:srgbClr val="C9C4CE"/>
                      </a:solidFill>
                      <a:prstDash val="solid"/>
                      <a:round/>
                      <a:headEnd type="none" w="med" len="med"/>
                      <a:tailEnd type="none" w="med" len="med"/>
                    </a:lnT>
                    <a:lnB w="9525" cap="flat" cmpd="sng" algn="ctr">
                      <a:solidFill>
                        <a:srgbClr val="C9C4CE"/>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3.461.612</a:t>
                      </a:r>
                      <a:endParaRPr lang="en-US" sz="1400" dirty="0"/>
                    </a:p>
                  </a:txBody>
                  <a:tcPr marL="91440" marR="91440" marT="45720" marB="45720" anchor="ctr">
                    <a:lnL w="9525" cap="flat" cmpd="sng" algn="ctr">
                      <a:solidFill>
                        <a:srgbClr val="C9C4CE"/>
                      </a:solidFill>
                      <a:prstDash val="solid"/>
                      <a:round/>
                      <a:headEnd type="none" w="med" len="med"/>
                      <a:tailEnd type="none" w="med" len="med"/>
                    </a:lnL>
                    <a:lnR w="9525" cap="flat" cmpd="sng" algn="ctr">
                      <a:solidFill>
                        <a:srgbClr val="C9C4CE"/>
                      </a:solidFill>
                      <a:prstDash val="solid"/>
                      <a:round/>
                      <a:headEnd type="none" w="med" len="med"/>
                      <a:tailEnd type="none" w="med" len="med"/>
                    </a:lnR>
                    <a:lnT w="9525" cap="flat" cmpd="sng" algn="ctr">
                      <a:solidFill>
                        <a:srgbClr val="C9C4CE"/>
                      </a:solidFill>
                      <a:prstDash val="solid"/>
                      <a:round/>
                      <a:headEnd type="none" w="med" len="med"/>
                      <a:tailEnd type="none" w="med" len="med"/>
                    </a:lnT>
                    <a:lnB w="9525" cap="flat" cmpd="sng" algn="ctr">
                      <a:solidFill>
                        <a:srgbClr val="C9C4CE"/>
                      </a:solidFill>
                      <a:prstDash val="solid"/>
                      <a:round/>
                      <a:headEnd type="none" w="med" len="med"/>
                      <a:tailEnd type="none" w="med" len="med"/>
                    </a:lnB>
                    <a:solidFill>
                      <a:schemeClr val="bg1"/>
                    </a:solidFill>
                  </a:tcPr>
                </a:tc>
                <a:tc>
                  <a:txBody>
                    <a:bodyPr/>
                    <a:lstStyle/>
                    <a:p>
                      <a:pPr algn="ctr" indent="0" marL="0">
                        <a:buNone/>
                      </a:pPr>
                      <a:r>
                        <a:rPr lang="en-US" sz="1800" b="1" dirty="0">
                          <a:solidFill>
                            <a:schemeClr val="accent1"/>
                          </a:solidFill>
                        </a:rPr>
                        <a:t>✓</a:t>
                      </a:r>
                      <a:endParaRPr lang="en-US" sz="1800" dirty="0"/>
                    </a:p>
                  </a:txBody>
                  <a:tcPr marL="91440" marR="91440" marT="45720" marB="45720" anchor="ctr">
                    <a:lnL w="9525" cap="flat" cmpd="sng" algn="ctr">
                      <a:solidFill>
                        <a:srgbClr val="C9C4CE"/>
                      </a:solidFill>
                      <a:prstDash val="solid"/>
                      <a:round/>
                      <a:headEnd type="none" w="med" len="med"/>
                      <a:tailEnd type="none" w="med" len="med"/>
                    </a:lnL>
                    <a:lnR w="9525" cap="flat" cmpd="sng" algn="ctr">
                      <a:solidFill>
                        <a:srgbClr val="C9C4CE"/>
                      </a:solidFill>
                      <a:prstDash val="solid"/>
                      <a:round/>
                      <a:headEnd type="none" w="med" len="med"/>
                      <a:tailEnd type="none" w="med" len="med"/>
                    </a:lnR>
                    <a:lnT w="9525" cap="flat" cmpd="sng" algn="ctr">
                      <a:solidFill>
                        <a:srgbClr val="C9C4CE"/>
                      </a:solidFill>
                      <a:prstDash val="solid"/>
                      <a:round/>
                      <a:headEnd type="none" w="med" len="med"/>
                      <a:tailEnd type="none" w="med" len="med"/>
                    </a:lnT>
                    <a:lnB w="9525" cap="flat" cmpd="sng" algn="ctr">
                      <a:solidFill>
                        <a:srgbClr val="C9C4CE"/>
                      </a:solidFill>
                      <a:prstDash val="solid"/>
                      <a:round/>
                      <a:headEnd type="none" w="med" len="med"/>
                      <a:tailEnd type="none" w="med" len="med"/>
                    </a:lnB>
                    <a:solidFill>
                      <a:schemeClr val="bg1"/>
                    </a:solidFill>
                  </a:tcPr>
                </a:tc>
                <a:tc>
                  <a:txBody>
                    <a:bodyPr/>
                    <a:lstStyle/>
                    <a:p>
                      <a:pPr algn="ctr" indent="0" marL="0">
                        <a:buNone/>
                      </a:pPr>
                      <a:r>
                        <a:rPr lang="en-US" sz="1800" b="1" dirty="0">
                          <a:solidFill>
                            <a:schemeClr val="accent1"/>
                          </a:solidFill>
                        </a:rPr>
                        <a:t>✓</a:t>
                      </a:r>
                      <a:endParaRPr lang="en-US" sz="1800" dirty="0"/>
                    </a:p>
                  </a:txBody>
                  <a:tcPr marL="91440" marR="91440" marT="45720" marB="45720" anchor="ctr">
                    <a:lnL w="9525" cap="flat" cmpd="sng" algn="ctr">
                      <a:solidFill>
                        <a:srgbClr val="C9C4CE"/>
                      </a:solidFill>
                      <a:prstDash val="solid"/>
                      <a:round/>
                      <a:headEnd type="none" w="med" len="med"/>
                      <a:tailEnd type="none" w="med" len="med"/>
                    </a:lnL>
                    <a:lnR w="9525" cap="flat" cmpd="sng" algn="ctr">
                      <a:solidFill>
                        <a:srgbClr val="C9C4CE"/>
                      </a:solidFill>
                      <a:prstDash val="solid"/>
                      <a:round/>
                      <a:headEnd type="none" w="med" len="med"/>
                      <a:tailEnd type="none" w="med" len="med"/>
                    </a:lnR>
                    <a:lnT w="9525" cap="flat" cmpd="sng" algn="ctr">
                      <a:solidFill>
                        <a:srgbClr val="C9C4CE"/>
                      </a:solidFill>
                      <a:prstDash val="solid"/>
                      <a:round/>
                      <a:headEnd type="none" w="med" len="med"/>
                      <a:tailEnd type="none" w="med" len="med"/>
                    </a:lnT>
                    <a:lnB w="9525" cap="flat" cmpd="sng" algn="ctr">
                      <a:solidFill>
                        <a:srgbClr val="C9C4CE"/>
                      </a:solidFill>
                      <a:prstDash val="solid"/>
                      <a:round/>
                      <a:headEnd type="none" w="med" len="med"/>
                      <a:tailEnd type="none" w="med" len="med"/>
                    </a:lnB>
                    <a:solidFill>
                      <a:schemeClr val="bg1"/>
                    </a:solidFill>
                  </a:tcPr>
                </a:tc>
                <a:tc>
                  <a:txBody>
                    <a:bodyPr/>
                    <a:lstStyle/>
                    <a:p>
                      <a:pPr algn="ctr" indent="0" marL="0">
                        <a:buNone/>
                      </a:pPr>
                      <a:r>
                        <a:rPr lang="en-US" sz="1800" b="1" dirty="0">
                          <a:solidFill>
                            <a:schemeClr val="accent1"/>
                          </a:solidFill>
                        </a:rPr>
                        <a:t>✓</a:t>
                      </a:r>
                      <a:endParaRPr lang="en-US" sz="1800" dirty="0"/>
                    </a:p>
                  </a:txBody>
                  <a:tcPr marL="91440" marR="91440" marT="45720" marB="45720" anchor="ctr">
                    <a:lnL w="9525" cap="flat" cmpd="sng" algn="ctr">
                      <a:solidFill>
                        <a:srgbClr val="C9C4CE"/>
                      </a:solidFill>
                      <a:prstDash val="solid"/>
                      <a:round/>
                      <a:headEnd type="none" w="med" len="med"/>
                      <a:tailEnd type="none" w="med" len="med"/>
                    </a:lnL>
                    <a:lnR w="9525" cap="flat" cmpd="sng" algn="ctr">
                      <a:solidFill>
                        <a:srgbClr val="C9C4CE"/>
                      </a:solidFill>
                      <a:prstDash val="solid"/>
                      <a:round/>
                      <a:headEnd type="none" w="med" len="med"/>
                      <a:tailEnd type="none" w="med" len="med"/>
                    </a:lnR>
                    <a:lnT w="9525" cap="flat" cmpd="sng" algn="ctr">
                      <a:solidFill>
                        <a:srgbClr val="C9C4CE"/>
                      </a:solidFill>
                      <a:prstDash val="solid"/>
                      <a:round/>
                      <a:headEnd type="none" w="med" len="med"/>
                      <a:tailEnd type="none" w="med" len="med"/>
                    </a:lnT>
                    <a:lnB w="9525" cap="flat" cmpd="sng" algn="ctr">
                      <a:solidFill>
                        <a:srgbClr val="C9C4CE"/>
                      </a:solidFill>
                      <a:prstDash val="solid"/>
                      <a:round/>
                      <a:headEnd type="none" w="med" len="med"/>
                      <a:tailEnd type="none" w="med" len="med"/>
                    </a:lnB>
                    <a:solidFill>
                      <a:schemeClr val="bg1"/>
                    </a:solidFill>
                  </a:tcPr>
                </a:tc>
                <a:tc>
                  <a:txBody>
                    <a:bodyPr/>
                    <a:lstStyle/>
                    <a:p>
                      <a:pPr algn="ctr" indent="0" marL="0">
                        <a:buNone/>
                      </a:pPr>
                      <a:r>
                        <a:rPr lang="en-US" sz="1800" b="1" dirty="0">
                          <a:solidFill>
                            <a:schemeClr val="accent1"/>
                          </a:solidFill>
                        </a:rPr>
                        <a:t>✓</a:t>
                      </a:r>
                      <a:endParaRPr lang="en-US" sz="1800" dirty="0"/>
                    </a:p>
                  </a:txBody>
                  <a:tcPr marL="91440" marR="91440" marT="45720" marB="45720" anchor="ctr">
                    <a:lnL w="9525" cap="flat" cmpd="sng" algn="ctr">
                      <a:solidFill>
                        <a:srgbClr val="C9C4CE"/>
                      </a:solidFill>
                      <a:prstDash val="solid"/>
                      <a:round/>
                      <a:headEnd type="none" w="med" len="med"/>
                      <a:tailEnd type="none" w="med" len="med"/>
                    </a:lnL>
                    <a:lnR w="9525" cap="flat" cmpd="sng" algn="ctr">
                      <a:solidFill>
                        <a:srgbClr val="C9C4CE"/>
                      </a:solidFill>
                      <a:prstDash val="solid"/>
                      <a:round/>
                      <a:headEnd type="none" w="med" len="med"/>
                      <a:tailEnd type="none" w="med" len="med"/>
                    </a:lnR>
                    <a:lnT w="9525" cap="flat" cmpd="sng" algn="ctr">
                      <a:solidFill>
                        <a:srgbClr val="C9C4CE"/>
                      </a:solidFill>
                      <a:prstDash val="solid"/>
                      <a:round/>
                      <a:headEnd type="none" w="med" len="med"/>
                      <a:tailEnd type="none" w="med" len="med"/>
                    </a:lnT>
                    <a:lnB w="9525" cap="flat" cmpd="sng" algn="ctr">
                      <a:solidFill>
                        <a:srgbClr val="C9C4CE"/>
                      </a:solidFill>
                      <a:prstDash val="solid"/>
                      <a:round/>
                      <a:headEnd type="none" w="med" len="med"/>
                      <a:tailEnd type="none" w="med" len="med"/>
                    </a:lnB>
                    <a:solidFill>
                      <a:schemeClr val="bg1"/>
                    </a:solidFill>
                  </a:tcPr>
                </a:tc>
              </a:tr>
              <a:tr h="457200">
                <a:tc>
                  <a:txBody>
                    <a:bodyPr/>
                    <a:lstStyle/>
                    <a:p>
                      <a:pPr algn="l" indent="0" marL="0">
                        <a:buNone/>
                      </a:pPr>
                      <a:r>
                        <a:rPr lang="en-US" sz="1400" dirty="0">
                          <a:solidFill>
                            <a:schemeClr val="tx1"/>
                          </a:solidFill>
                        </a:rPr>
                        <a:t>hour</a:t>
                      </a:r>
                      <a:endParaRPr lang="en-US" sz="1400" dirty="0"/>
                    </a:p>
                  </a:txBody>
                  <a:tcPr marL="91440" marR="91440" marT="45720" marB="45720" anchor="ctr">
                    <a:lnL w="9525" cap="flat" cmpd="sng" algn="ctr">
                      <a:solidFill>
                        <a:srgbClr val="C9C4CE"/>
                      </a:solidFill>
                      <a:prstDash val="solid"/>
                      <a:round/>
                      <a:headEnd type="none" w="med" len="med"/>
                      <a:tailEnd type="none" w="med" len="med"/>
                    </a:lnL>
                    <a:lnR w="9525" cap="flat" cmpd="sng" algn="ctr">
                      <a:solidFill>
                        <a:srgbClr val="C9C4CE"/>
                      </a:solidFill>
                      <a:prstDash val="solid"/>
                      <a:round/>
                      <a:headEnd type="none" w="med" len="med"/>
                      <a:tailEnd type="none" w="med" len="med"/>
                    </a:lnR>
                    <a:lnT w="9525" cap="flat" cmpd="sng" algn="ctr">
                      <a:solidFill>
                        <a:srgbClr val="C9C4CE"/>
                      </a:solidFill>
                      <a:prstDash val="solid"/>
                      <a:round/>
                      <a:headEnd type="none" w="med" len="med"/>
                      <a:tailEnd type="none" w="med" len="med"/>
                    </a:lnT>
                    <a:lnB w="9525" cap="flat" cmpd="sng" algn="ctr">
                      <a:solidFill>
                        <a:srgbClr val="C9C4CE"/>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24</a:t>
                      </a:r>
                      <a:endParaRPr lang="en-US" sz="1400" dirty="0"/>
                    </a:p>
                  </a:txBody>
                  <a:tcPr marL="91440" marR="91440" marT="45720" marB="45720" anchor="ctr">
                    <a:lnL w="9525" cap="flat" cmpd="sng" algn="ctr">
                      <a:solidFill>
                        <a:srgbClr val="C9C4CE"/>
                      </a:solidFill>
                      <a:prstDash val="solid"/>
                      <a:round/>
                      <a:headEnd type="none" w="med" len="med"/>
                      <a:tailEnd type="none" w="med" len="med"/>
                    </a:lnL>
                    <a:lnR w="9525" cap="flat" cmpd="sng" algn="ctr">
                      <a:solidFill>
                        <a:srgbClr val="C9C4CE"/>
                      </a:solidFill>
                      <a:prstDash val="solid"/>
                      <a:round/>
                      <a:headEnd type="none" w="med" len="med"/>
                      <a:tailEnd type="none" w="med" len="med"/>
                    </a:lnR>
                    <a:lnT w="9525" cap="flat" cmpd="sng" algn="ctr">
                      <a:solidFill>
                        <a:srgbClr val="C9C4CE"/>
                      </a:solidFill>
                      <a:prstDash val="solid"/>
                      <a:round/>
                      <a:headEnd type="none" w="med" len="med"/>
                      <a:tailEnd type="none" w="med" len="med"/>
                    </a:lnT>
                    <a:lnB w="9525" cap="flat" cmpd="sng" algn="ctr">
                      <a:solidFill>
                        <a:srgbClr val="C9C4CE"/>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±61 GB</a:t>
                      </a:r>
                      <a:endParaRPr lang="en-US" sz="1400" dirty="0"/>
                    </a:p>
                  </a:txBody>
                  <a:tcPr marL="91440" marR="91440" marT="45720" marB="45720" anchor="ctr">
                    <a:lnL w="9525" cap="flat" cmpd="sng" algn="ctr">
                      <a:solidFill>
                        <a:srgbClr val="C9C4CE"/>
                      </a:solidFill>
                      <a:prstDash val="solid"/>
                      <a:round/>
                      <a:headEnd type="none" w="med" len="med"/>
                      <a:tailEnd type="none" w="med" len="med"/>
                    </a:lnL>
                    <a:lnR w="9525" cap="flat" cmpd="sng" algn="ctr">
                      <a:solidFill>
                        <a:srgbClr val="C9C4CE"/>
                      </a:solidFill>
                      <a:prstDash val="solid"/>
                      <a:round/>
                      <a:headEnd type="none" w="med" len="med"/>
                      <a:tailEnd type="none" w="med" len="med"/>
                    </a:lnR>
                    <a:lnT w="9525" cap="flat" cmpd="sng" algn="ctr">
                      <a:solidFill>
                        <a:srgbClr val="C9C4CE"/>
                      </a:solidFill>
                      <a:prstDash val="solid"/>
                      <a:round/>
                      <a:headEnd type="none" w="med" len="med"/>
                      <a:tailEnd type="none" w="med" len="med"/>
                    </a:lnT>
                    <a:lnB w="9525" cap="flat" cmpd="sng" algn="ctr">
                      <a:solidFill>
                        <a:srgbClr val="C9C4CE"/>
                      </a:solidFill>
                      <a:prstDash val="solid"/>
                      <a:round/>
                      <a:headEnd type="none" w="med" len="med"/>
                      <a:tailEnd type="none" w="med" len="med"/>
                    </a:lnB>
                    <a:solidFill>
                      <a:schemeClr val="bg1"/>
                    </a:solidFill>
                  </a:tcPr>
                </a:tc>
                <a:tc>
                  <a:txBody>
                    <a:bodyPr/>
                    <a:lstStyle/>
                    <a:p>
                      <a:pPr algn="ctr" indent="0" marL="0">
                        <a:buNone/>
                      </a:pPr>
                      <a:r>
                        <a:rPr lang="en-US" sz="1800" b="1" dirty="0">
                          <a:solidFill>
                            <a:schemeClr val="accent1"/>
                          </a:solidFill>
                        </a:rPr>
                        <a:t>✓</a:t>
                      </a:r>
                      <a:endParaRPr lang="en-US" sz="1800" dirty="0"/>
                    </a:p>
                  </a:txBody>
                  <a:tcPr marL="91440" marR="91440" marT="45720" marB="45720" anchor="ctr">
                    <a:lnL w="9525" cap="flat" cmpd="sng" algn="ctr">
                      <a:solidFill>
                        <a:srgbClr val="C9C4CE"/>
                      </a:solidFill>
                      <a:prstDash val="solid"/>
                      <a:round/>
                      <a:headEnd type="none" w="med" len="med"/>
                      <a:tailEnd type="none" w="med" len="med"/>
                    </a:lnL>
                    <a:lnR w="9525" cap="flat" cmpd="sng" algn="ctr">
                      <a:solidFill>
                        <a:srgbClr val="C9C4CE"/>
                      </a:solidFill>
                      <a:prstDash val="solid"/>
                      <a:round/>
                      <a:headEnd type="none" w="med" len="med"/>
                      <a:tailEnd type="none" w="med" len="med"/>
                    </a:lnR>
                    <a:lnT w="9525" cap="flat" cmpd="sng" algn="ctr">
                      <a:solidFill>
                        <a:srgbClr val="C9C4CE"/>
                      </a:solidFill>
                      <a:prstDash val="solid"/>
                      <a:round/>
                      <a:headEnd type="none" w="med" len="med"/>
                      <a:tailEnd type="none" w="med" len="med"/>
                    </a:lnT>
                    <a:lnB w="9525" cap="flat" cmpd="sng" algn="ctr">
                      <a:solidFill>
                        <a:srgbClr val="C9C4CE"/>
                      </a:solidFill>
                      <a:prstDash val="solid"/>
                      <a:round/>
                      <a:headEnd type="none" w="med" len="med"/>
                      <a:tailEnd type="none" w="med" len="med"/>
                    </a:lnB>
                    <a:solidFill>
                      <a:schemeClr val="bg1"/>
                    </a:solidFill>
                  </a:tcPr>
                </a:tc>
                <a:tc>
                  <a:txBody>
                    <a:bodyPr/>
                    <a:lstStyle/>
                    <a:p>
                      <a:pPr algn="ctr" indent="0" marL="0">
                        <a:buNone/>
                      </a:pPr>
                      <a:r>
                        <a:rPr lang="en-US" sz="1800" b="1" dirty="0">
                          <a:solidFill>
                            <a:schemeClr val="accent1"/>
                          </a:solidFill>
                        </a:rPr>
                        <a:t>✓</a:t>
                      </a:r>
                      <a:endParaRPr lang="en-US" sz="1800" dirty="0"/>
                    </a:p>
                  </a:txBody>
                  <a:tcPr marL="91440" marR="91440" marT="45720" marB="45720" anchor="ctr">
                    <a:lnL w="9525" cap="flat" cmpd="sng" algn="ctr">
                      <a:solidFill>
                        <a:srgbClr val="C9C4CE"/>
                      </a:solidFill>
                      <a:prstDash val="solid"/>
                      <a:round/>
                      <a:headEnd type="none" w="med" len="med"/>
                      <a:tailEnd type="none" w="med" len="med"/>
                    </a:lnL>
                    <a:lnR w="9525" cap="flat" cmpd="sng" algn="ctr">
                      <a:solidFill>
                        <a:srgbClr val="C9C4CE"/>
                      </a:solidFill>
                      <a:prstDash val="solid"/>
                      <a:round/>
                      <a:headEnd type="none" w="med" len="med"/>
                      <a:tailEnd type="none" w="med" len="med"/>
                    </a:lnR>
                    <a:lnT w="9525" cap="flat" cmpd="sng" algn="ctr">
                      <a:solidFill>
                        <a:srgbClr val="C9C4CE"/>
                      </a:solidFill>
                      <a:prstDash val="solid"/>
                      <a:round/>
                      <a:headEnd type="none" w="med" len="med"/>
                      <a:tailEnd type="none" w="med" len="med"/>
                    </a:lnT>
                    <a:lnB w="9525" cap="flat" cmpd="sng" algn="ctr">
                      <a:solidFill>
                        <a:srgbClr val="C9C4CE"/>
                      </a:solidFill>
                      <a:prstDash val="solid"/>
                      <a:round/>
                      <a:headEnd type="none" w="med" len="med"/>
                      <a:tailEnd type="none" w="med" len="med"/>
                    </a:lnB>
                    <a:solidFill>
                      <a:schemeClr val="bg1"/>
                    </a:solidFill>
                  </a:tcPr>
                </a:tc>
                <a:tc>
                  <a:txBody>
                    <a:bodyPr/>
                    <a:lstStyle/>
                    <a:p>
                      <a:pPr algn="ctr" indent="0" marL="0">
                        <a:buNone/>
                      </a:pPr>
                      <a:r>
                        <a:rPr lang="en-US" sz="1800" b="1" dirty="0">
                          <a:solidFill>
                            <a:schemeClr val="accent1"/>
                          </a:solidFill>
                        </a:rPr>
                        <a:t>✓</a:t>
                      </a:r>
                      <a:endParaRPr lang="en-US" sz="1800" dirty="0"/>
                    </a:p>
                  </a:txBody>
                  <a:tcPr marL="91440" marR="91440" marT="45720" marB="45720" anchor="ctr">
                    <a:lnL w="9525" cap="flat" cmpd="sng" algn="ctr">
                      <a:solidFill>
                        <a:srgbClr val="C9C4CE"/>
                      </a:solidFill>
                      <a:prstDash val="solid"/>
                      <a:round/>
                      <a:headEnd type="none" w="med" len="med"/>
                      <a:tailEnd type="none" w="med" len="med"/>
                    </a:lnL>
                    <a:lnR w="9525" cap="flat" cmpd="sng" algn="ctr">
                      <a:solidFill>
                        <a:srgbClr val="C9C4CE"/>
                      </a:solidFill>
                      <a:prstDash val="solid"/>
                      <a:round/>
                      <a:headEnd type="none" w="med" len="med"/>
                      <a:tailEnd type="none" w="med" len="med"/>
                    </a:lnR>
                    <a:lnT w="9525" cap="flat" cmpd="sng" algn="ctr">
                      <a:solidFill>
                        <a:srgbClr val="C9C4CE"/>
                      </a:solidFill>
                      <a:prstDash val="solid"/>
                      <a:round/>
                      <a:headEnd type="none" w="med" len="med"/>
                      <a:tailEnd type="none" w="med" len="med"/>
                    </a:lnT>
                    <a:lnB w="9525" cap="flat" cmpd="sng" algn="ctr">
                      <a:solidFill>
                        <a:srgbClr val="C9C4CE"/>
                      </a:solidFill>
                      <a:prstDash val="solid"/>
                      <a:round/>
                      <a:headEnd type="none" w="med" len="med"/>
                      <a:tailEnd type="none" w="med" len="med"/>
                    </a:lnB>
                    <a:solidFill>
                      <a:schemeClr val="bg1"/>
                    </a:solidFill>
                  </a:tcPr>
                </a:tc>
                <a:tc>
                  <a:txBody>
                    <a:bodyPr/>
                    <a:lstStyle/>
                    <a:p>
                      <a:pPr algn="ctr" indent="0" marL="0">
                        <a:buNone/>
                      </a:pPr>
                      <a:r>
                        <a:rPr lang="en-US" sz="1800" b="1" dirty="0">
                          <a:solidFill>
                            <a:schemeClr val="accent1"/>
                          </a:solidFill>
                        </a:rPr>
                        <a:t>✓</a:t>
                      </a:r>
                      <a:endParaRPr lang="en-US" sz="1800" dirty="0"/>
                    </a:p>
                  </a:txBody>
                  <a:tcPr marL="91440" marR="91440" marT="45720" marB="45720" anchor="ctr">
                    <a:lnL w="9525" cap="flat" cmpd="sng" algn="ctr">
                      <a:solidFill>
                        <a:srgbClr val="C9C4CE"/>
                      </a:solidFill>
                      <a:prstDash val="solid"/>
                      <a:round/>
                      <a:headEnd type="none" w="med" len="med"/>
                      <a:tailEnd type="none" w="med" len="med"/>
                    </a:lnL>
                    <a:lnR w="9525" cap="flat" cmpd="sng" algn="ctr">
                      <a:solidFill>
                        <a:srgbClr val="C9C4CE"/>
                      </a:solidFill>
                      <a:prstDash val="solid"/>
                      <a:round/>
                      <a:headEnd type="none" w="med" len="med"/>
                      <a:tailEnd type="none" w="med" len="med"/>
                    </a:lnR>
                    <a:lnT w="9525" cap="flat" cmpd="sng" algn="ctr">
                      <a:solidFill>
                        <a:srgbClr val="C9C4CE"/>
                      </a:solidFill>
                      <a:prstDash val="solid"/>
                      <a:round/>
                      <a:headEnd type="none" w="med" len="med"/>
                      <a:tailEnd type="none" w="med" len="med"/>
                    </a:lnT>
                    <a:lnB w="9525" cap="flat" cmpd="sng" algn="ctr">
                      <a:solidFill>
                        <a:srgbClr val="C9C4CE"/>
                      </a:solidFill>
                      <a:prstDash val="solid"/>
                      <a:round/>
                      <a:headEnd type="none" w="med" len="med"/>
                      <a:tailEnd type="none" w="med" len="med"/>
                    </a:lnB>
                    <a:solidFill>
                      <a:schemeClr val="bg1"/>
                    </a:solidFill>
                  </a:tcPr>
                </a:tc>
              </a:tr>
            </a:tbl>
          </a:graphicData>
        </a:graphic>
      </p:graphicFrame>
      <p:sp>
        <p:nvSpPr>
          <p:cNvPr id="4" name="lingkaran centang"/>
          <p:cNvSpPr/>
          <p:nvPr/>
        </p:nvSpPr>
        <p:spPr>
          <a:xfrm>
            <a:off x="6629400" y="1188720"/>
            <a:ext cx="1371600" cy="1371600"/>
          </a:xfrm>
          <a:prstGeom prst="ellipse">
            <a:avLst/>
          </a:prstGeom>
          <a:solidFill>
            <a:schemeClr val="accent1"/>
          </a:solidFill>
          <a:ln/>
        </p:spPr>
      </p:sp>
      <p:sp>
        <p:nvSpPr>
          <p:cNvPr id="5" name="centang"/>
          <p:cNvSpPr txBox="1"/>
          <p:nvPr/>
        </p:nvSpPr>
        <p:spPr>
          <a:xfrm>
            <a:off x="6629400" y="1188720"/>
            <a:ext cx="1371600" cy="1371600"/>
          </a:xfrm>
          <a:prstGeom prst="rect">
            <a:avLst/>
          </a:prstGeom>
          <a:noFill/>
          <a:ln/>
        </p:spPr>
        <p:txBody>
          <a:bodyPr wrap="square" lIns="0" tIns="0" rIns="0" bIns="0" rtlCol="0" anchor="ctr"/>
          <a:lstStyle/>
          <a:p>
            <a:pPr algn="ctr" indent="0" marL="0">
              <a:buNone/>
            </a:pPr>
            <a:r>
              <a:rPr lang="en-US" sz="5400" b="1" dirty="0">
                <a:solidFill>
                  <a:schemeClr val="bg1"/>
                </a:solidFill>
              </a:rPr>
              <a:t>✓</a:t>
            </a:r>
            <a:endParaRPr lang="en-US" sz="5400" dirty="0"/>
          </a:p>
        </p:txBody>
      </p:sp>
      <p:sp>
        <p:nvSpPr>
          <p:cNvPr id="6" name="keterangan centang"/>
          <p:cNvSpPr txBox="1"/>
          <p:nvPr/>
        </p:nvSpPr>
        <p:spPr>
          <a:xfrm>
            <a:off x="6217920" y="2743200"/>
            <a:ext cx="2468880" cy="731520"/>
          </a:xfrm>
          <a:prstGeom prst="rect">
            <a:avLst/>
          </a:prstGeom>
          <a:noFill/>
          <a:ln/>
        </p:spPr>
        <p:txBody>
          <a:bodyPr wrap="square" lIns="0" tIns="0" rIns="0" bIns="0" rtlCol="0" anchor="t"/>
          <a:lstStyle/>
          <a:p>
            <a:pPr algn="ctr" indent="0" marL="0">
              <a:buNone/>
            </a:pPr>
            <a:r>
              <a:rPr lang="en-US" sz="1400" dirty="0">
                <a:solidFill>
                  <a:schemeClr val="tx1"/>
                </a:solidFill>
              </a:rPr>
              <a:t>Dicocokkan baris demi baris secara otomatis di notebook</a:t>
            </a:r>
            <a:endParaRPr lang="en-US" sz="1400" dirty="0"/>
          </a:p>
        </p:txBody>
      </p:sp>
      <p:sp>
        <p:nvSpPr>
          <p:cNvPr id="7" name="kesimpulan validasi"/>
          <p:cNvSpPr txBox="1"/>
          <p:nvPr/>
        </p:nvSpPr>
        <p:spPr>
          <a:xfrm>
            <a:off x="457200" y="3429000"/>
            <a:ext cx="5669280" cy="731520"/>
          </a:xfrm>
          <a:prstGeom prst="rect">
            <a:avLst/>
          </a:prstGeom>
          <a:noFill/>
          <a:ln/>
        </p:spPr>
        <p:txBody>
          <a:bodyPr wrap="square" lIns="0" tIns="0" rIns="0" bIns="0" rtlCol="0" anchor="t"/>
          <a:lstStyle/>
          <a:p>
            <a:pPr indent="0" marL="0">
              <a:buNone/>
            </a:pPr>
            <a:r>
              <a:rPr lang="en-US" sz="1500" i="1" dirty="0">
                <a:solidFill>
                  <a:schemeClr val="accent1"/>
                </a:solidFill>
              </a:rPr>
              <a:t>Jadi perbedaan kecepatan berikutnya bukan karena ada cara yang menghitung lebih sedikit.</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accent1"/>
                </a:solidFill>
                <a:latin typeface="Cambria" pitchFamily="34" charset="0"/>
                <a:ea typeface="Cambria" pitchFamily="34" charset="-122"/>
                <a:cs typeface="Cambria" pitchFamily="34" charset="-120"/>
              </a:rPr>
              <a:t>Spark 2–4× lebih cepat, tapi RAM ±2×</a:t>
            </a:r>
            <a:endParaRPr lang="en-US" sz="3000" dirty="0"/>
          </a:p>
        </p:txBody>
      </p:sp>
      <p:graphicFrame>
        <p:nvGraphicFramePr>
          <p:cNvPr id="3" name="grafik waktu" descr=""/>
          <p:cNvGraphicFramePr/>
          <p:nvPr/>
        </p:nvGraphicFramePr>
        <p:xfrm>
          <a:off x="365760" y="1005840"/>
          <a:ext cx="5394960" cy="3611880"/>
        </p:xfrm>
        <a:graphic xmlns:a="http://schemas.openxmlformats.org/drawingml/2006/main">
          <a:graphicData uri="http://schemas.openxmlformats.org/drawingml/2006/chart">
            <c:chart xmlns:c="http://schemas.openxmlformats.org/drawingml/2006/chart" r:id="rId1"/>
          </a:graphicData>
        </a:graphic>
      </p:graphicFrame>
      <p:sp>
        <p:nvSpPr>
          <p:cNvPr id="4" name="kecepatan kartu"/>
          <p:cNvSpPr/>
          <p:nvPr/>
        </p:nvSpPr>
        <p:spPr>
          <a:xfrm>
            <a:off x="6035040" y="1051560"/>
            <a:ext cx="2651760" cy="1600200"/>
          </a:xfrm>
          <a:prstGeom prst="roundRect">
            <a:avLst>
              <a:gd name="adj" fmla="val 6857"/>
            </a:avLst>
          </a:prstGeom>
          <a:solidFill>
            <a:schemeClr val="bg2"/>
          </a:solidFill>
          <a:ln/>
        </p:spPr>
      </p:sp>
      <p:sp>
        <p:nvSpPr>
          <p:cNvPr id="5" name="kecepatan angka"/>
          <p:cNvSpPr txBox="1"/>
          <p:nvPr/>
        </p:nvSpPr>
        <p:spPr>
          <a:xfrm>
            <a:off x="6217920" y="1188720"/>
            <a:ext cx="2286000" cy="800100"/>
          </a:xfrm>
          <a:prstGeom prst="rect">
            <a:avLst/>
          </a:prstGeom>
          <a:noFill/>
          <a:ln/>
        </p:spPr>
        <p:txBody>
          <a:bodyPr wrap="square" lIns="0" tIns="0" rIns="0" bIns="0" rtlCol="0" anchor="b"/>
          <a:lstStyle/>
          <a:p>
            <a:pPr indent="0" marL="0">
              <a:buNone/>
            </a:pPr>
            <a:r>
              <a:rPr lang="en-US" sz="3400" b="1" dirty="0">
                <a:solidFill>
                  <a:schemeClr val="accent2"/>
                </a:solidFill>
                <a:latin typeface="Cambria" pitchFamily="34" charset="0"/>
                <a:ea typeface="Cambria" pitchFamily="34" charset="-122"/>
                <a:cs typeface="Cambria" pitchFamily="34" charset="-120"/>
              </a:rPr>
              <a:t>2,2–4,1×</a:t>
            </a:r>
            <a:endParaRPr lang="en-US" sz="3400" dirty="0"/>
          </a:p>
        </p:txBody>
      </p:sp>
      <p:sp>
        <p:nvSpPr>
          <p:cNvPr id="6" name="kecepatan keterangan"/>
          <p:cNvSpPr txBox="1"/>
          <p:nvPr/>
        </p:nvSpPr>
        <p:spPr>
          <a:xfrm>
            <a:off x="6217920" y="1988820"/>
            <a:ext cx="2286000" cy="525780"/>
          </a:xfrm>
          <a:prstGeom prst="rect">
            <a:avLst/>
          </a:prstGeom>
          <a:noFill/>
          <a:ln/>
        </p:spPr>
        <p:txBody>
          <a:bodyPr wrap="square" lIns="0" tIns="0" rIns="0" bIns="0" rtlCol="0" anchor="t"/>
          <a:lstStyle/>
          <a:p>
            <a:pPr indent="0" marL="0">
              <a:buNone/>
            </a:pPr>
            <a:r>
              <a:rPr lang="en-US" sz="1400" dirty="0">
                <a:solidFill>
                  <a:schemeClr val="tx1"/>
                </a:solidFill>
              </a:rPr>
              <a:t>lebih cepat: Spark dibanding MapReduce</a:t>
            </a:r>
            <a:endParaRPr lang="en-US" sz="1400" dirty="0"/>
          </a:p>
        </p:txBody>
      </p:sp>
      <p:sp>
        <p:nvSpPr>
          <p:cNvPr id="7" name="memori kartu"/>
          <p:cNvSpPr/>
          <p:nvPr/>
        </p:nvSpPr>
        <p:spPr>
          <a:xfrm>
            <a:off x="6035040" y="2834640"/>
            <a:ext cx="2651760" cy="1600200"/>
          </a:xfrm>
          <a:prstGeom prst="roundRect">
            <a:avLst>
              <a:gd name="adj" fmla="val 6857"/>
            </a:avLst>
          </a:prstGeom>
          <a:solidFill>
            <a:schemeClr val="bg2"/>
          </a:solidFill>
          <a:ln/>
        </p:spPr>
      </p:sp>
      <p:sp>
        <p:nvSpPr>
          <p:cNvPr id="8" name="memori angka"/>
          <p:cNvSpPr txBox="1"/>
          <p:nvPr/>
        </p:nvSpPr>
        <p:spPr>
          <a:xfrm>
            <a:off x="6217920" y="2971800"/>
            <a:ext cx="2286000" cy="800100"/>
          </a:xfrm>
          <a:prstGeom prst="rect">
            <a:avLst/>
          </a:prstGeom>
          <a:noFill/>
          <a:ln/>
        </p:spPr>
        <p:txBody>
          <a:bodyPr wrap="square" lIns="0" tIns="0" rIns="0" bIns="0" rtlCol="0" anchor="b"/>
          <a:lstStyle/>
          <a:p>
            <a:pPr indent="0" marL="0">
              <a:buNone/>
            </a:pPr>
            <a:r>
              <a:rPr lang="en-US" sz="3400" b="1" dirty="0">
                <a:solidFill>
                  <a:schemeClr val="accent1"/>
                </a:solidFill>
                <a:latin typeface="Cambria" pitchFamily="34" charset="0"/>
                <a:ea typeface="Cambria" pitchFamily="34" charset="-122"/>
                <a:cs typeface="Cambria" pitchFamily="34" charset="-120"/>
              </a:rPr>
              <a:t>±2× RAM</a:t>
            </a:r>
            <a:endParaRPr lang="en-US" sz="3400" dirty="0"/>
          </a:p>
        </p:txBody>
      </p:sp>
      <p:sp>
        <p:nvSpPr>
          <p:cNvPr id="9" name="memori keterangan"/>
          <p:cNvSpPr txBox="1"/>
          <p:nvPr/>
        </p:nvSpPr>
        <p:spPr>
          <a:xfrm>
            <a:off x="6217920" y="3771900"/>
            <a:ext cx="2286000" cy="525780"/>
          </a:xfrm>
          <a:prstGeom prst="rect">
            <a:avLst/>
          </a:prstGeom>
          <a:noFill/>
          <a:ln/>
        </p:spPr>
        <p:txBody>
          <a:bodyPr wrap="square" lIns="0" tIns="0" rIns="0" bIns="0" rtlCol="0" anchor="t"/>
          <a:lstStyle/>
          <a:p>
            <a:pPr indent="0" marL="0">
              <a:buNone/>
            </a:pPr>
            <a:r>
              <a:rPr lang="en-US" sz="1400" dirty="0">
                <a:solidFill>
                  <a:schemeClr val="tx1"/>
                </a:solidFill>
              </a:rPr>
              <a:t>Spark 1,2–1,8 GB vs MapReduce ±0,9 GB</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accent1"/>
                </a:solidFill>
                <a:latin typeface="Cambria" pitchFamily="34" charset="0"/>
                <a:ea typeface="Cambria" pitchFamily="34" charset="-122"/>
                <a:cs typeface="Cambria" pitchFamily="34" charset="-120"/>
              </a:rPr>
              <a:t>Cache: data diolah sekali, dipakai tiga kali</a:t>
            </a:r>
            <a:endParaRPr lang="en-US" sz="3000" dirty="0"/>
          </a:p>
        </p:txBody>
      </p:sp>
      <p:graphicFrame>
        <p:nvGraphicFramePr>
          <p:cNvPr id="3" name="grafik cache" descr=""/>
          <p:cNvGraphicFramePr/>
          <p:nvPr/>
        </p:nvGraphicFramePr>
        <p:xfrm>
          <a:off x="365760" y="1005840"/>
          <a:ext cx="5577840" cy="3611880"/>
        </p:xfrm>
        <a:graphic xmlns:a="http://schemas.openxmlformats.org/drawingml/2006/main">
          <a:graphicData uri="http://schemas.openxmlformats.org/drawingml/2006/chart">
            <c:chart xmlns:c="http://schemas.openxmlformats.org/drawingml/2006/chart" r:id="rId1"/>
          </a:graphicData>
        </a:graphic>
      </p:graphicFrame>
      <p:sp>
        <p:nvSpPr>
          <p:cNvPr id="4" name="cache kartu"/>
          <p:cNvSpPr/>
          <p:nvPr/>
        </p:nvSpPr>
        <p:spPr>
          <a:xfrm>
            <a:off x="6217920" y="1051560"/>
            <a:ext cx="2468880" cy="1600200"/>
          </a:xfrm>
          <a:prstGeom prst="roundRect">
            <a:avLst>
              <a:gd name="adj" fmla="val 6857"/>
            </a:avLst>
          </a:prstGeom>
          <a:solidFill>
            <a:schemeClr val="bg2"/>
          </a:solidFill>
          <a:ln/>
        </p:spPr>
      </p:sp>
      <p:sp>
        <p:nvSpPr>
          <p:cNvPr id="5" name="cache angka"/>
          <p:cNvSpPr txBox="1"/>
          <p:nvPr/>
        </p:nvSpPr>
        <p:spPr>
          <a:xfrm>
            <a:off x="6400800" y="1188720"/>
            <a:ext cx="2103120" cy="800100"/>
          </a:xfrm>
          <a:prstGeom prst="rect">
            <a:avLst/>
          </a:prstGeom>
          <a:noFill/>
          <a:ln/>
        </p:spPr>
        <p:txBody>
          <a:bodyPr wrap="square" lIns="0" tIns="0" rIns="0" bIns="0" rtlCol="0" anchor="b"/>
          <a:lstStyle/>
          <a:p>
            <a:pPr indent="0" marL="0">
              <a:buNone/>
            </a:pPr>
            <a:r>
              <a:rPr lang="en-US" sz="3400" b="1" dirty="0">
                <a:solidFill>
                  <a:schemeClr val="accent2"/>
                </a:solidFill>
                <a:latin typeface="Cambria" pitchFamily="34" charset="0"/>
                <a:ea typeface="Cambria" pitchFamily="34" charset="-122"/>
                <a:cs typeface="Cambria" pitchFamily="34" charset="-120"/>
              </a:rPr>
              <a:t>5,9×</a:t>
            </a:r>
            <a:endParaRPr lang="en-US" sz="3400" dirty="0"/>
          </a:p>
        </p:txBody>
      </p:sp>
      <p:sp>
        <p:nvSpPr>
          <p:cNvPr id="6" name="cache keterangan"/>
          <p:cNvSpPr txBox="1"/>
          <p:nvPr/>
        </p:nvSpPr>
        <p:spPr>
          <a:xfrm>
            <a:off x="6400800" y="1988820"/>
            <a:ext cx="2103120" cy="525780"/>
          </a:xfrm>
          <a:prstGeom prst="rect">
            <a:avLst/>
          </a:prstGeom>
          <a:noFill/>
          <a:ln/>
        </p:spPr>
        <p:txBody>
          <a:bodyPr wrap="square" lIns="0" tIns="0" rIns="0" bIns="0" rtlCol="0" anchor="t"/>
          <a:lstStyle/>
          <a:p>
            <a:pPr indent="0" marL="0">
              <a:buNone/>
            </a:pPr>
            <a:r>
              <a:rPr lang="en-US" sz="1400" dirty="0">
                <a:solidFill>
                  <a:schemeClr val="tx1"/>
                </a:solidFill>
              </a:rPr>
              <a:t>lebih cepat: Spark RDD + cache vs MapReduce</a:t>
            </a:r>
            <a:endParaRPr lang="en-US" sz="1400" dirty="0"/>
          </a:p>
        </p:txBody>
      </p:sp>
      <p:sp>
        <p:nvSpPr>
          <p:cNvPr id="7" name="hemat kartu"/>
          <p:cNvSpPr/>
          <p:nvPr/>
        </p:nvSpPr>
        <p:spPr>
          <a:xfrm>
            <a:off x="6217920" y="2834640"/>
            <a:ext cx="2468880" cy="1600200"/>
          </a:xfrm>
          <a:prstGeom prst="roundRect">
            <a:avLst>
              <a:gd name="adj" fmla="val 6857"/>
            </a:avLst>
          </a:prstGeom>
          <a:solidFill>
            <a:schemeClr val="bg2"/>
          </a:solidFill>
          <a:ln/>
        </p:spPr>
      </p:sp>
      <p:sp>
        <p:nvSpPr>
          <p:cNvPr id="8" name="hemat angka"/>
          <p:cNvSpPr txBox="1"/>
          <p:nvPr/>
        </p:nvSpPr>
        <p:spPr>
          <a:xfrm>
            <a:off x="6400800" y="2971800"/>
            <a:ext cx="2103120" cy="800100"/>
          </a:xfrm>
          <a:prstGeom prst="rect">
            <a:avLst/>
          </a:prstGeom>
          <a:noFill/>
          <a:ln/>
        </p:spPr>
        <p:txBody>
          <a:bodyPr wrap="square" lIns="0" tIns="0" rIns="0" bIns="0" rtlCol="0" anchor="b"/>
          <a:lstStyle/>
          <a:p>
            <a:pPr indent="0" marL="0">
              <a:buNone/>
            </a:pPr>
            <a:r>
              <a:rPr lang="en-US" sz="3400" b="1" dirty="0">
                <a:solidFill>
                  <a:schemeClr val="accent1"/>
                </a:solidFill>
                <a:latin typeface="Cambria" pitchFamily="34" charset="0"/>
                <a:ea typeface="Cambria" pitchFamily="34" charset="-122"/>
                <a:cs typeface="Cambria" pitchFamily="34" charset="-120"/>
              </a:rPr>
              <a:t>58 → 34 s</a:t>
            </a:r>
            <a:endParaRPr lang="en-US" sz="3400" dirty="0"/>
          </a:p>
        </p:txBody>
      </p:sp>
      <p:sp>
        <p:nvSpPr>
          <p:cNvPr id="9" name="hemat keterangan"/>
          <p:cNvSpPr txBox="1"/>
          <p:nvPr/>
        </p:nvSpPr>
        <p:spPr>
          <a:xfrm>
            <a:off x="6400800" y="3771900"/>
            <a:ext cx="2103120" cy="525780"/>
          </a:xfrm>
          <a:prstGeom prst="rect">
            <a:avLst/>
          </a:prstGeom>
          <a:noFill/>
          <a:ln/>
        </p:spPr>
        <p:txBody>
          <a:bodyPr wrap="square" lIns="0" tIns="0" rIns="0" bIns="0" rtlCol="0" anchor="t"/>
          <a:lstStyle/>
          <a:p>
            <a:pPr indent="0" marL="0">
              <a:buNone/>
            </a:pPr>
            <a:r>
              <a:rPr lang="en-US" sz="1400" dirty="0">
                <a:solidFill>
                  <a:schemeClr val="tx1"/>
                </a:solidFill>
              </a:rPr>
              <a:t>efek cache pada Spark RDD (1,7× lebih cepat)</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accent1"/>
                </a:solidFill>
                <a:latin typeface="Cambria" pitchFamily="34" charset="0"/>
                <a:ea typeface="Cambria" pitchFamily="34" charset="-122"/>
                <a:cs typeface="Cambria" pitchFamily="34" charset="-120"/>
              </a:rPr>
              <a:t>Mengapa hasilnya begitu?</a:t>
            </a:r>
            <a:endParaRPr lang="en-US" sz="3000" dirty="0"/>
          </a:p>
        </p:txBody>
      </p:sp>
      <p:sp>
        <p:nvSpPr>
          <p:cNvPr id="3" name="kartu Disk vs memori"/>
          <p:cNvSpPr/>
          <p:nvPr/>
        </p:nvSpPr>
        <p:spPr>
          <a:xfrm>
            <a:off x="457200" y="1097280"/>
            <a:ext cx="4023360" cy="1600200"/>
          </a:xfrm>
          <a:prstGeom prst="roundRect">
            <a:avLst>
              <a:gd name="adj" fmla="val 6857"/>
            </a:avLst>
          </a:prstGeom>
          <a:solidFill>
            <a:schemeClr val="bg2"/>
          </a:solidFill>
          <a:ln/>
        </p:spPr>
      </p:sp>
      <p:sp>
        <p:nvSpPr>
          <p:cNvPr id="4" name="Disk vs memori lingkaran"/>
          <p:cNvSpPr/>
          <p:nvPr/>
        </p:nvSpPr>
        <p:spPr>
          <a:xfrm>
            <a:off x="685800" y="1325880"/>
            <a:ext cx="384048" cy="384048"/>
          </a:xfrm>
          <a:prstGeom prst="ellipse">
            <a:avLst/>
          </a:prstGeom>
          <a:solidFill>
            <a:schemeClr val="accent1"/>
          </a:solidFill>
          <a:ln/>
        </p:spPr>
      </p:sp>
      <p:sp>
        <p:nvSpPr>
          <p:cNvPr id="5" name="Disk vs memori nomor"/>
          <p:cNvSpPr txBox="1"/>
          <p:nvPr/>
        </p:nvSpPr>
        <p:spPr>
          <a:xfrm>
            <a:off x="685800" y="132588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judul Disk vs memori"/>
          <p:cNvSpPr txBox="1"/>
          <p:nvPr/>
        </p:nvSpPr>
        <p:spPr>
          <a:xfrm>
            <a:off x="1234440" y="1325880"/>
            <a:ext cx="3108960" cy="384048"/>
          </a:xfrm>
          <a:prstGeom prst="rect">
            <a:avLst/>
          </a:prstGeom>
          <a:noFill/>
          <a:ln/>
        </p:spPr>
        <p:txBody>
          <a:bodyPr wrap="square" lIns="0" tIns="0" rIns="0" bIns="0" rtlCol="0" anchor="ctr"/>
          <a:lstStyle/>
          <a:p>
            <a:pPr indent="0" marL="0">
              <a:buNone/>
            </a:pPr>
            <a:r>
              <a:rPr lang="en-US" sz="1700" b="1" dirty="0">
                <a:solidFill>
                  <a:schemeClr val="accent1"/>
                </a:solidFill>
              </a:rPr>
              <a:t>Disk vs memori</a:t>
            </a:r>
            <a:endParaRPr lang="en-US" sz="1700" dirty="0"/>
          </a:p>
        </p:txBody>
      </p:sp>
      <p:sp>
        <p:nvSpPr>
          <p:cNvPr id="7" name="isi Disk vs memori"/>
          <p:cNvSpPr txBox="1"/>
          <p:nvPr/>
        </p:nvSpPr>
        <p:spPr>
          <a:xfrm>
            <a:off x="685800" y="1847088"/>
            <a:ext cx="3611880" cy="731520"/>
          </a:xfrm>
          <a:prstGeom prst="rect">
            <a:avLst/>
          </a:prstGeom>
          <a:noFill/>
          <a:ln/>
        </p:spPr>
        <p:txBody>
          <a:bodyPr wrap="square" lIns="0" tIns="0" rIns="0" bIns="0" rtlCol="0" anchor="t"/>
          <a:lstStyle/>
          <a:p>
            <a:pPr indent="0" marL="0">
              <a:buNone/>
            </a:pPr>
            <a:r>
              <a:rPr lang="en-US" sz="1400" dirty="0">
                <a:solidFill>
                  <a:schemeClr val="tx1"/>
                </a:solidFill>
              </a:rPr>
              <a:t>MapReduce menulis hasil antara ke disk lalu membacanya lagi. Spark meneruskannya di memori.</a:t>
            </a:r>
            <a:endParaRPr lang="en-US" sz="1400" dirty="0"/>
          </a:p>
        </p:txBody>
      </p:sp>
      <p:sp>
        <p:nvSpPr>
          <p:cNvPr id="8" name="kartu DAG dan shuffle"/>
          <p:cNvSpPr/>
          <p:nvPr/>
        </p:nvSpPr>
        <p:spPr>
          <a:xfrm>
            <a:off x="4663440" y="1097280"/>
            <a:ext cx="4023360" cy="1600200"/>
          </a:xfrm>
          <a:prstGeom prst="roundRect">
            <a:avLst>
              <a:gd name="adj" fmla="val 6857"/>
            </a:avLst>
          </a:prstGeom>
          <a:solidFill>
            <a:schemeClr val="bg2"/>
          </a:solidFill>
          <a:ln/>
        </p:spPr>
      </p:sp>
      <p:sp>
        <p:nvSpPr>
          <p:cNvPr id="9" name="DAG dan shuffle lingkaran"/>
          <p:cNvSpPr/>
          <p:nvPr/>
        </p:nvSpPr>
        <p:spPr>
          <a:xfrm>
            <a:off x="4892040" y="1325880"/>
            <a:ext cx="384048" cy="384048"/>
          </a:xfrm>
          <a:prstGeom prst="ellipse">
            <a:avLst/>
          </a:prstGeom>
          <a:solidFill>
            <a:schemeClr val="accent1"/>
          </a:solidFill>
          <a:ln/>
        </p:spPr>
      </p:sp>
      <p:sp>
        <p:nvSpPr>
          <p:cNvPr id="10" name="DAG dan shuffle nomor"/>
          <p:cNvSpPr txBox="1"/>
          <p:nvPr/>
        </p:nvSpPr>
        <p:spPr>
          <a:xfrm>
            <a:off x="4892040" y="132588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judul DAG dan shuffle"/>
          <p:cNvSpPr txBox="1"/>
          <p:nvPr/>
        </p:nvSpPr>
        <p:spPr>
          <a:xfrm>
            <a:off x="5440680" y="1325880"/>
            <a:ext cx="3108960" cy="384048"/>
          </a:xfrm>
          <a:prstGeom prst="rect">
            <a:avLst/>
          </a:prstGeom>
          <a:noFill/>
          <a:ln/>
        </p:spPr>
        <p:txBody>
          <a:bodyPr wrap="square" lIns="0" tIns="0" rIns="0" bIns="0" rtlCol="0" anchor="ctr"/>
          <a:lstStyle/>
          <a:p>
            <a:pPr indent="0" marL="0">
              <a:buNone/>
            </a:pPr>
            <a:r>
              <a:rPr lang="en-US" sz="1700" b="1" dirty="0">
                <a:solidFill>
                  <a:schemeClr val="accent1"/>
                </a:solidFill>
              </a:rPr>
              <a:t>DAG dan shuffle</a:t>
            </a:r>
            <a:endParaRPr lang="en-US" sz="1700" dirty="0"/>
          </a:p>
        </p:txBody>
      </p:sp>
      <p:sp>
        <p:nvSpPr>
          <p:cNvPr id="12" name="isi DAG dan shuffle"/>
          <p:cNvSpPr txBox="1"/>
          <p:nvPr/>
        </p:nvSpPr>
        <p:spPr>
          <a:xfrm>
            <a:off x="4892040" y="1847088"/>
            <a:ext cx="3611880" cy="731520"/>
          </a:xfrm>
          <a:prstGeom prst="rect">
            <a:avLst/>
          </a:prstGeom>
          <a:noFill/>
          <a:ln/>
        </p:spPr>
        <p:txBody>
          <a:bodyPr wrap="square" lIns="0" tIns="0" rIns="0" bIns="0" rtlCol="0" anchor="t"/>
          <a:lstStyle/>
          <a:p>
            <a:pPr indent="0" marL="0">
              <a:buNone/>
            </a:pPr>
            <a:r>
              <a:rPr lang="en-US" sz="1400" dirty="0">
                <a:solidFill>
                  <a:schemeClr val="tx1"/>
                </a:solidFill>
              </a:rPr>
              <a:t>Spark menyusun rencana kerja dulu dan menjumlahkan sementara sebelum shuffle.</a:t>
            </a:r>
            <a:endParaRPr lang="en-US" sz="1400" dirty="0"/>
          </a:p>
        </p:txBody>
      </p:sp>
      <p:sp>
        <p:nvSpPr>
          <p:cNvPr id="13" name="kartu Combiner tak membantu"/>
          <p:cNvSpPr/>
          <p:nvPr/>
        </p:nvSpPr>
        <p:spPr>
          <a:xfrm>
            <a:off x="457200" y="2880360"/>
            <a:ext cx="4023360" cy="1600200"/>
          </a:xfrm>
          <a:prstGeom prst="roundRect">
            <a:avLst>
              <a:gd name="adj" fmla="val 6857"/>
            </a:avLst>
          </a:prstGeom>
          <a:solidFill>
            <a:schemeClr val="bg2"/>
          </a:solidFill>
          <a:ln/>
        </p:spPr>
      </p:sp>
      <p:sp>
        <p:nvSpPr>
          <p:cNvPr id="14" name="Combiner tak membantu lingkaran"/>
          <p:cNvSpPr/>
          <p:nvPr/>
        </p:nvSpPr>
        <p:spPr>
          <a:xfrm>
            <a:off x="685800" y="3108960"/>
            <a:ext cx="384048" cy="384048"/>
          </a:xfrm>
          <a:prstGeom prst="ellipse">
            <a:avLst/>
          </a:prstGeom>
          <a:solidFill>
            <a:schemeClr val="accent1"/>
          </a:solidFill>
          <a:ln/>
        </p:spPr>
      </p:sp>
      <p:sp>
        <p:nvSpPr>
          <p:cNvPr id="15" name="Combiner tak membantu nomor"/>
          <p:cNvSpPr txBox="1"/>
          <p:nvPr/>
        </p:nvSpPr>
        <p:spPr>
          <a:xfrm>
            <a:off x="685800" y="310896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judul Combiner tak membantu"/>
          <p:cNvSpPr txBox="1"/>
          <p:nvPr/>
        </p:nvSpPr>
        <p:spPr>
          <a:xfrm>
            <a:off x="1234440" y="3108960"/>
            <a:ext cx="3108960" cy="384048"/>
          </a:xfrm>
          <a:prstGeom prst="rect">
            <a:avLst/>
          </a:prstGeom>
          <a:noFill/>
          <a:ln/>
        </p:spPr>
        <p:txBody>
          <a:bodyPr wrap="square" lIns="0" tIns="0" rIns="0" bIns="0" rtlCol="0" anchor="ctr"/>
          <a:lstStyle/>
          <a:p>
            <a:pPr indent="0" marL="0">
              <a:buNone/>
            </a:pPr>
            <a:r>
              <a:rPr lang="en-US" sz="1700" b="1" dirty="0">
                <a:solidFill>
                  <a:schemeClr val="accent1"/>
                </a:solidFill>
              </a:rPr>
              <a:t>Combiner tak membantu</a:t>
            </a:r>
            <a:endParaRPr lang="en-US" sz="1700" dirty="0"/>
          </a:p>
        </p:txBody>
      </p:sp>
      <p:sp>
        <p:nvSpPr>
          <p:cNvPr id="17" name="isi Combiner tak membantu"/>
          <p:cNvSpPr txBox="1"/>
          <p:nvPr/>
        </p:nvSpPr>
        <p:spPr>
          <a:xfrm>
            <a:off x="685800" y="3630168"/>
            <a:ext cx="3611880" cy="731520"/>
          </a:xfrm>
          <a:prstGeom prst="rect">
            <a:avLst/>
          </a:prstGeom>
          <a:noFill/>
          <a:ln/>
        </p:spPr>
        <p:txBody>
          <a:bodyPr wrap="square" lIns="0" tIns="0" rIns="0" bIns="0" rtlCol="0" anchor="t"/>
          <a:lstStyle/>
          <a:p>
            <a:pPr indent="0" marL="0">
              <a:buNone/>
            </a:pPr>
            <a:r>
              <a:rPr lang="en-US" sz="1400" dirty="0">
                <a:solidFill>
                  <a:schemeClr val="tx1"/>
                </a:solidFill>
              </a:rPr>
              <a:t>Di satu mesin shuffle murah; yang dominan adalah biaya mrjob sendiri.</a:t>
            </a:r>
            <a:endParaRPr lang="en-US" sz="1400" dirty="0"/>
          </a:p>
        </p:txBody>
      </p:sp>
      <p:sp>
        <p:nvSpPr>
          <p:cNvPr id="18" name="kartu DataFrame lambat di hour"/>
          <p:cNvSpPr/>
          <p:nvPr/>
        </p:nvSpPr>
        <p:spPr>
          <a:xfrm>
            <a:off x="4663440" y="2880360"/>
            <a:ext cx="4023360" cy="1600200"/>
          </a:xfrm>
          <a:prstGeom prst="roundRect">
            <a:avLst>
              <a:gd name="adj" fmla="val 6857"/>
            </a:avLst>
          </a:prstGeom>
          <a:solidFill>
            <a:schemeClr val="bg2"/>
          </a:solidFill>
          <a:ln/>
        </p:spPr>
      </p:sp>
      <p:sp>
        <p:nvSpPr>
          <p:cNvPr id="19" name="DataFrame lambat di hour lingkaran"/>
          <p:cNvSpPr/>
          <p:nvPr/>
        </p:nvSpPr>
        <p:spPr>
          <a:xfrm>
            <a:off x="4892040" y="3108960"/>
            <a:ext cx="384048" cy="384048"/>
          </a:xfrm>
          <a:prstGeom prst="ellipse">
            <a:avLst/>
          </a:prstGeom>
          <a:solidFill>
            <a:schemeClr val="accent2"/>
          </a:solidFill>
          <a:ln/>
        </p:spPr>
      </p:sp>
      <p:sp>
        <p:nvSpPr>
          <p:cNvPr id="20" name="DataFrame lambat di hour nomor"/>
          <p:cNvSpPr txBox="1"/>
          <p:nvPr/>
        </p:nvSpPr>
        <p:spPr>
          <a:xfrm>
            <a:off x="4892040" y="3108960"/>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1" name="judul DataFrame lambat di hour"/>
          <p:cNvSpPr txBox="1"/>
          <p:nvPr/>
        </p:nvSpPr>
        <p:spPr>
          <a:xfrm>
            <a:off x="5440680" y="3108960"/>
            <a:ext cx="3108960" cy="384048"/>
          </a:xfrm>
          <a:prstGeom prst="rect">
            <a:avLst/>
          </a:prstGeom>
          <a:noFill/>
          <a:ln/>
        </p:spPr>
        <p:txBody>
          <a:bodyPr wrap="square" lIns="0" tIns="0" rIns="0" bIns="0" rtlCol="0" anchor="ctr"/>
          <a:lstStyle/>
          <a:p>
            <a:pPr indent="0" marL="0">
              <a:buNone/>
            </a:pPr>
            <a:r>
              <a:rPr lang="en-US" sz="1700" b="1" dirty="0">
                <a:solidFill>
                  <a:schemeClr val="accent1"/>
                </a:solidFill>
              </a:rPr>
              <a:t>DataFrame lambat di hour</a:t>
            </a:r>
            <a:endParaRPr lang="en-US" sz="1700" dirty="0"/>
          </a:p>
        </p:txBody>
      </p:sp>
      <p:sp>
        <p:nvSpPr>
          <p:cNvPr id="22" name="isi DataFrame lambat di hour"/>
          <p:cNvSpPr txBox="1"/>
          <p:nvPr/>
        </p:nvSpPr>
        <p:spPr>
          <a:xfrm>
            <a:off x="4892040" y="3630168"/>
            <a:ext cx="3611880" cy="731520"/>
          </a:xfrm>
          <a:prstGeom prst="rect">
            <a:avLst/>
          </a:prstGeom>
          <a:noFill/>
          <a:ln/>
        </p:spPr>
        <p:txBody>
          <a:bodyPr wrap="square" lIns="0" tIns="0" rIns="0" bIns="0" rtlCol="0" anchor="t"/>
          <a:lstStyle/>
          <a:p>
            <a:pPr indent="0" marL="0">
              <a:buNone/>
            </a:pPr>
            <a:r>
              <a:rPr lang="en-US" sz="1400" dirty="0">
                <a:solidFill>
                  <a:schemeClr val="tx1"/>
                </a:solidFill>
              </a:rPr>
              <a:t>Regex dijalankan 4× per baris karena ditulis per kolom. RDD cukup 1×.</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Kesimpulan</a:t>
            </a:r>
            <a:endParaRPr lang="en-US" sz="3000" dirty="0"/>
          </a:p>
        </p:txBody>
      </p:sp>
      <p:sp>
        <p:nvSpPr>
          <p:cNvPr id="3" name="poin kesimpulan"/>
          <p:cNvSpPr txBox="1"/>
          <p:nvPr/>
        </p:nvSpPr>
        <p:spPr>
          <a:xfrm>
            <a:off x="457200" y="1143000"/>
            <a:ext cx="3931920" cy="219456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bg1"/>
                </a:solidFill>
              </a:rPr>
              <a:t>Jawaban keempat cara identik</a:t>
            </a:r>
            <a:endParaRPr lang="en-US" sz="1700" dirty="0"/>
          </a:p>
          <a:p>
            <a:pPr marL="342900" indent="-342900">
              <a:spcAft>
                <a:spcPts val="1000"/>
              </a:spcAft>
              <a:buSzPct val="100000"/>
              <a:buChar char="•"/>
            </a:pPr>
            <a:r>
              <a:rPr lang="en-US" sz="1700" dirty="0">
                <a:solidFill>
                  <a:schemeClr val="bg1"/>
                </a:solidFill>
              </a:rPr>
              <a:t>Spark 2,2–4,1× lebih cepat, hingga 5,9× dengan cache</a:t>
            </a:r>
            <a:endParaRPr lang="en-US" sz="1700" dirty="0"/>
          </a:p>
          <a:p>
            <a:pPr marL="342900" indent="-342900">
              <a:spcAft>
                <a:spcPts val="1000"/>
              </a:spcAft>
              <a:buSzPct val="100000"/>
              <a:buChar char="•"/>
            </a:pPr>
            <a:r>
              <a:rPr lang="en-US" sz="1700" dirty="0">
                <a:solidFill>
                  <a:schemeClr val="bg1"/>
                </a:solidFill>
              </a:rPr>
              <a:t>Harganya: RAM ±2× dan 26 detik untuk menyalakan Spark</a:t>
            </a:r>
            <a:endParaRPr lang="en-US" sz="1700" dirty="0"/>
          </a:p>
        </p:txBody>
      </p:sp>
      <p:sp>
        <p:nvSpPr>
          <p:cNvPr id="4" name="judul rekomendasi"/>
          <p:cNvSpPr txBox="1"/>
          <p:nvPr/>
        </p:nvSpPr>
        <p:spPr>
          <a:xfrm>
            <a:off x="4754880" y="1097280"/>
            <a:ext cx="3931920" cy="365760"/>
          </a:xfrm>
          <a:prstGeom prst="rect">
            <a:avLst/>
          </a:prstGeom>
          <a:noFill/>
          <a:ln/>
        </p:spPr>
        <p:txBody>
          <a:bodyPr wrap="square" lIns="0" tIns="0" rIns="0" bIns="0" rtlCol="0" anchor="ctr"/>
          <a:lstStyle/>
          <a:p>
            <a:pPr indent="0" marL="0">
              <a:buNone/>
            </a:pPr>
            <a:r>
              <a:rPr lang="en-US" sz="1600" b="1" dirty="0">
                <a:solidFill>
                  <a:schemeClr val="accent3"/>
                </a:solidFill>
              </a:rPr>
              <a:t>Kapan memakai apa?</a:t>
            </a:r>
            <a:endParaRPr lang="en-US" sz="1600" dirty="0"/>
          </a:p>
        </p:txBody>
      </p:sp>
      <p:sp>
        <p:nvSpPr>
          <p:cNvPr id="5" name="rekomendasi 1"/>
          <p:cNvSpPr/>
          <p:nvPr/>
        </p:nvSpPr>
        <p:spPr>
          <a:xfrm>
            <a:off x="4754880" y="1554480"/>
            <a:ext cx="3931920" cy="548640"/>
          </a:xfrm>
          <a:prstGeom prst="roundRect">
            <a:avLst>
              <a:gd name="adj" fmla="val 16667"/>
            </a:avLst>
          </a:prstGeom>
          <a:solidFill>
            <a:schemeClr val="bg1">
              <a:alpha val="12000"/>
            </a:schemeClr>
          </a:solidFill>
          <a:ln/>
        </p:spPr>
      </p:sp>
      <p:sp>
        <p:nvSpPr>
          <p:cNvPr id="6" name="teks rekomendasi 1"/>
          <p:cNvSpPr txBox="1"/>
          <p:nvPr/>
        </p:nvSpPr>
        <p:spPr>
          <a:xfrm>
            <a:off x="4892040" y="1554480"/>
            <a:ext cx="3703320" cy="548640"/>
          </a:xfrm>
          <a:prstGeom prst="rect">
            <a:avLst/>
          </a:prstGeom>
          <a:noFill/>
          <a:ln/>
        </p:spPr>
        <p:txBody>
          <a:bodyPr wrap="square" lIns="0" tIns="0" rIns="0" bIns="0" rtlCol="0" anchor="ctr"/>
          <a:lstStyle/>
          <a:p>
            <a:pPr indent="0" marL="0">
              <a:buNone/>
            </a:pPr>
            <a:r>
              <a:rPr lang="en-US" sz="1400" dirty="0">
                <a:solidFill>
                  <a:schemeClr val="bg2"/>
                </a:solidFill>
              </a:rPr>
              <a:t>Data tabel, laporan rutin</a:t>
            </a:r>
            <a:pPr indent="0" marL="0">
              <a:buNone/>
            </a:pPr>
            <a:r>
              <a:rPr lang="en-US" sz="1400" dirty="0">
                <a:solidFill>
                  <a:schemeClr val="accent3"/>
                </a:solidFill>
              </a:rPr>
              <a:t>  →  </a:t>
            </a:r>
            <a:pPr indent="0" marL="0">
              <a:buNone/>
            </a:pPr>
            <a:r>
              <a:rPr lang="en-US" sz="1400" b="1" dirty="0">
                <a:solidFill>
                  <a:schemeClr val="bg1"/>
                </a:solidFill>
              </a:rPr>
              <a:t>Spark DataFrame</a:t>
            </a:r>
            <a:endParaRPr lang="en-US" sz="1400" dirty="0"/>
          </a:p>
        </p:txBody>
      </p:sp>
      <p:sp>
        <p:nvSpPr>
          <p:cNvPr id="7" name="rekomendasi 2"/>
          <p:cNvSpPr/>
          <p:nvPr/>
        </p:nvSpPr>
        <p:spPr>
          <a:xfrm>
            <a:off x="4754880" y="2212848"/>
            <a:ext cx="3931920" cy="548640"/>
          </a:xfrm>
          <a:prstGeom prst="roundRect">
            <a:avLst>
              <a:gd name="adj" fmla="val 16667"/>
            </a:avLst>
          </a:prstGeom>
          <a:solidFill>
            <a:schemeClr val="bg1">
              <a:alpha val="12000"/>
            </a:schemeClr>
          </a:solidFill>
          <a:ln/>
        </p:spPr>
      </p:sp>
      <p:sp>
        <p:nvSpPr>
          <p:cNvPr id="8" name="teks rekomendasi 2"/>
          <p:cNvSpPr txBox="1"/>
          <p:nvPr/>
        </p:nvSpPr>
        <p:spPr>
          <a:xfrm>
            <a:off x="4892040" y="2212848"/>
            <a:ext cx="3703320" cy="548640"/>
          </a:xfrm>
          <a:prstGeom prst="rect">
            <a:avLst/>
          </a:prstGeom>
          <a:noFill/>
          <a:ln/>
        </p:spPr>
        <p:txBody>
          <a:bodyPr wrap="square" lIns="0" tIns="0" rIns="0" bIns="0" rtlCol="0" anchor="ctr"/>
          <a:lstStyle/>
          <a:p>
            <a:pPr indent="0" marL="0">
              <a:buNone/>
            </a:pPr>
            <a:r>
              <a:rPr lang="en-US" sz="1400" dirty="0">
                <a:solidFill>
                  <a:schemeClr val="bg2"/>
                </a:solidFill>
              </a:rPr>
              <a:t>Data dipakai berulang</a:t>
            </a:r>
            <a:pPr indent="0" marL="0">
              <a:buNone/>
            </a:pPr>
            <a:r>
              <a:rPr lang="en-US" sz="1400" dirty="0">
                <a:solidFill>
                  <a:schemeClr val="accent3"/>
                </a:solidFill>
              </a:rPr>
              <a:t>  →  </a:t>
            </a:r>
            <a:pPr indent="0" marL="0">
              <a:buNone/>
            </a:pPr>
            <a:r>
              <a:rPr lang="en-US" sz="1400" b="1" dirty="0">
                <a:solidFill>
                  <a:schemeClr val="bg1"/>
                </a:solidFill>
              </a:rPr>
              <a:t>Spark + cache</a:t>
            </a:r>
            <a:endParaRPr lang="en-US" sz="1400" dirty="0"/>
          </a:p>
        </p:txBody>
      </p:sp>
      <p:sp>
        <p:nvSpPr>
          <p:cNvPr id="9" name="rekomendasi 3"/>
          <p:cNvSpPr/>
          <p:nvPr/>
        </p:nvSpPr>
        <p:spPr>
          <a:xfrm>
            <a:off x="4754880" y="2871216"/>
            <a:ext cx="3931920" cy="548640"/>
          </a:xfrm>
          <a:prstGeom prst="roundRect">
            <a:avLst>
              <a:gd name="adj" fmla="val 16667"/>
            </a:avLst>
          </a:prstGeom>
          <a:solidFill>
            <a:schemeClr val="bg1">
              <a:alpha val="12000"/>
            </a:schemeClr>
          </a:solidFill>
          <a:ln/>
        </p:spPr>
      </p:sp>
      <p:sp>
        <p:nvSpPr>
          <p:cNvPr id="10" name="teks rekomendasi 3"/>
          <p:cNvSpPr txBox="1"/>
          <p:nvPr/>
        </p:nvSpPr>
        <p:spPr>
          <a:xfrm>
            <a:off x="4892040" y="2871216"/>
            <a:ext cx="3703320" cy="548640"/>
          </a:xfrm>
          <a:prstGeom prst="rect">
            <a:avLst/>
          </a:prstGeom>
          <a:noFill/>
          <a:ln/>
        </p:spPr>
        <p:txBody>
          <a:bodyPr wrap="square" lIns="0" tIns="0" rIns="0" bIns="0" rtlCol="0" anchor="ctr"/>
          <a:lstStyle/>
          <a:p>
            <a:pPr indent="0" marL="0">
              <a:buNone/>
            </a:pPr>
            <a:r>
              <a:rPr lang="en-US" sz="1400" dirty="0">
                <a:solidFill>
                  <a:schemeClr val="bg2"/>
                </a:solidFill>
              </a:rPr>
              <a:t>Logika khusus</a:t>
            </a:r>
            <a:pPr indent="0" marL="0">
              <a:buNone/>
            </a:pPr>
            <a:r>
              <a:rPr lang="en-US" sz="1400" dirty="0">
                <a:solidFill>
                  <a:schemeClr val="accent3"/>
                </a:solidFill>
              </a:rPr>
              <a:t>  →  </a:t>
            </a:r>
            <a:pPr indent="0" marL="0">
              <a:buNone/>
            </a:pPr>
            <a:r>
              <a:rPr lang="en-US" sz="1400" b="1" dirty="0">
                <a:solidFill>
                  <a:schemeClr val="bg1"/>
                </a:solidFill>
              </a:rPr>
              <a:t>Spark RDD</a:t>
            </a:r>
            <a:endParaRPr lang="en-US" sz="1400" dirty="0"/>
          </a:p>
        </p:txBody>
      </p:sp>
      <p:sp>
        <p:nvSpPr>
          <p:cNvPr id="11" name="rekomendasi 4"/>
          <p:cNvSpPr/>
          <p:nvPr/>
        </p:nvSpPr>
        <p:spPr>
          <a:xfrm>
            <a:off x="4754880" y="3529584"/>
            <a:ext cx="3931920" cy="548640"/>
          </a:xfrm>
          <a:prstGeom prst="roundRect">
            <a:avLst>
              <a:gd name="adj" fmla="val 16667"/>
            </a:avLst>
          </a:prstGeom>
          <a:solidFill>
            <a:schemeClr val="bg1">
              <a:alpha val="12000"/>
            </a:schemeClr>
          </a:solidFill>
          <a:ln/>
        </p:spPr>
      </p:sp>
      <p:sp>
        <p:nvSpPr>
          <p:cNvPr id="12" name="teks rekomendasi 4"/>
          <p:cNvSpPr txBox="1"/>
          <p:nvPr/>
        </p:nvSpPr>
        <p:spPr>
          <a:xfrm>
            <a:off x="4892040" y="3529584"/>
            <a:ext cx="3703320" cy="548640"/>
          </a:xfrm>
          <a:prstGeom prst="rect">
            <a:avLst/>
          </a:prstGeom>
          <a:noFill/>
          <a:ln/>
        </p:spPr>
        <p:txBody>
          <a:bodyPr wrap="square" lIns="0" tIns="0" rIns="0" bIns="0" rtlCol="0" anchor="ctr"/>
          <a:lstStyle/>
          <a:p>
            <a:pPr indent="0" marL="0">
              <a:buNone/>
            </a:pPr>
            <a:r>
              <a:rPr lang="en-US" sz="1400" dirty="0">
                <a:solidFill>
                  <a:schemeClr val="bg2"/>
                </a:solidFill>
              </a:rPr>
              <a:t>Data sangat besar, RAM terbatas</a:t>
            </a:r>
            <a:pPr indent="0" marL="0">
              <a:buNone/>
            </a:pPr>
            <a:r>
              <a:rPr lang="en-US" sz="1400" dirty="0">
                <a:solidFill>
                  <a:schemeClr val="accent3"/>
                </a:solidFill>
              </a:rPr>
              <a:t>  →  </a:t>
            </a:r>
            <a:pPr indent="0" marL="0">
              <a:buNone/>
            </a:pPr>
            <a:r>
              <a:rPr lang="en-US" sz="1400" b="1" dirty="0">
                <a:solidFill>
                  <a:schemeClr val="bg1"/>
                </a:solidFill>
              </a:rPr>
              <a:t>MapReduce</a:t>
            </a:r>
            <a:endParaRPr lang="en-US" sz="1400" dirty="0"/>
          </a:p>
        </p:txBody>
      </p:sp>
      <p:sp>
        <p:nvSpPr>
          <p:cNvPr id="13" name="penutup"/>
          <p:cNvSpPr txBox="1"/>
          <p:nvPr/>
        </p:nvSpPr>
        <p:spPr>
          <a:xfrm>
            <a:off x="457200" y="4160520"/>
            <a:ext cx="4206240" cy="457200"/>
          </a:xfrm>
          <a:prstGeom prst="rect">
            <a:avLst/>
          </a:prstGeom>
          <a:noFill/>
          <a:ln/>
        </p:spPr>
        <p:txBody>
          <a:bodyPr wrap="square" lIns="0" tIns="0" rIns="0" bIns="0" rtlCol="0" anchor="ctr"/>
          <a:lstStyle/>
          <a:p>
            <a:pPr indent="0" marL="0">
              <a:buNone/>
            </a:pPr>
            <a:r>
              <a:rPr lang="en-US" sz="1800" b="1" dirty="0">
                <a:solidFill>
                  <a:schemeClr val="accent3"/>
                </a:solidFill>
                <a:latin typeface="Cambria" pitchFamily="34" charset="0"/>
                <a:ea typeface="Cambria" pitchFamily="34" charset="-122"/>
                <a:cs typeface="Cambria" pitchFamily="34" charset="-120"/>
              </a:rPr>
              <a:t>Terima kasih · Ada pertanyaan?</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AMIKOM Ungu">
  <a:themeElements>
    <a:clrScheme name="AMIKOM Ungu">
      <a:dk1>
        <a:srgbClr val="2B2233"/>
      </a:dk1>
      <a:lt1>
        <a:srgbClr val="FFFFFF"/>
      </a:lt1>
      <a:dk2>
        <a:srgbClr val="6B1D78"/>
      </a:dk2>
      <a:lt2>
        <a:srgbClr val="F3E8F5"/>
      </a:lt2>
      <a:accent1>
        <a:srgbClr val="6B1D78"/>
      </a:accent1>
      <a:accent2>
        <a:srgbClr val="F7931E"/>
      </a:accent2>
      <a:accent3>
        <a:srgbClr val="FDBE18"/>
      </a:accent3>
      <a:accent4>
        <a:srgbClr val="8E2A9C"/>
      </a:accent4>
      <a:accent5>
        <a:srgbClr val="E2552B"/>
      </a:accent5>
      <a:accent6>
        <a:srgbClr val="9C95A3"/>
      </a:accent6>
      <a:hlink>
        <a:srgbClr val="6B1D78"/>
      </a:hlink>
      <a:folHlink>
        <a:srgbClr val="8E2A9C"/>
      </a:folHlink>
    </a:clrScheme>
    <a:fontScheme name="AMIKOM Ungu">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Universitas AMIKOM Yogyakarta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Analisis Komparatif MapReduce vs Spark</dc:title>
  <dc:subject>PptxGenJS Presentation</dc:subject>
  <dc:creator>Kelompok 21</dc:creator>
  <cp:lastModifiedBy>Kelompok 21</cp:lastModifiedBy>
  <cp:revision>1</cp:revision>
  <dcterms:created xsi:type="dcterms:W3CDTF">2026-10-23T08:09:48Z</dcterms:created>
  <dcterms:modified xsi:type="dcterms:W3CDTF">2026-10-23T08:09:48Z</dcterms:modified>
</cp:coreProperties>
</file>